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7" Type="http://schemas.openxmlformats.org/officeDocument/2006/relationships/slideLayout" Target="../slideLayouts/slideLayout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6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68680" y="914400"/>
            <a:ext cx="658368" cy="658368"/>
          </a:xfrm>
          <a:prstGeom prst="roundRect">
            <a:avLst>
              <a:gd name="adj" fmla="val 30000"/>
            </a:avLst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0A564A"/>
                </a:solidFill>
                <a:latin typeface="微软雅黑" panose="020B0503020204020204" charset="-122"/>
              </a:rPr>
              <a:t>E</a:t>
            </a:r>
            <a:endParaRPr sz="2800" b="1">
              <a:solidFill>
                <a:srgbClr val="0A564A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691640" y="106070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B897"/>
                </a:solidFill>
                <a:latin typeface="微软雅黑" panose="020B0503020204020204" charset="-122"/>
              </a:rPr>
              <a:t>AI HEALTH NAVIGATOR · 团队招募</a:t>
            </a:r>
            <a:endParaRPr sz="1400" b="1">
              <a:solidFill>
                <a:srgbClr val="17B897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微软雅黑" panose="020B0503020204020204" charset="-122"/>
              </a:rPr>
              <a:t>AI Health Navigator</a:t>
            </a:r>
            <a:endParaRPr sz="4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306324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B8E4DA"/>
                </a:solidFill>
                <a:latin typeface="微软雅黑" panose="020B0503020204020204" charset="-122"/>
              </a:rPr>
              <a:t>把日常健康的不确定性，连接到专业医疗。</a:t>
            </a:r>
            <a:endParaRPr sz="2200" b="0">
              <a:solidFill>
                <a:srgbClr val="B8E4DA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68680" y="4069080"/>
            <a:ext cx="7589520" cy="777240"/>
          </a:xfrm>
          <a:prstGeom prst="roundRect">
            <a:avLst>
              <a:gd name="adj" fmla="val 50000"/>
            </a:avLst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A564A"/>
                </a:solidFill>
                <a:latin typeface="微软雅黑" panose="020B0503020204020204" charset="-122"/>
              </a:rPr>
              <a:t>已完成一个可交互 Web Demo 原型 —— 就差你了</a:t>
            </a:r>
            <a:endParaRPr sz="1700" b="1">
              <a:solidFill>
                <a:srgbClr val="0A564A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96112" y="5349240"/>
            <a:ext cx="1463040" cy="41148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62356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B897"/>
                </a:solidFill>
                <a:latin typeface="微软雅黑" panose="020B0503020204020204" charset="-122"/>
              </a:rPr>
              <a:t>We don't replace doctors. We connect everyday health uncertainty with professional care.</a:t>
            </a:r>
            <a:endParaRPr sz="1500" b="0">
              <a:solidFill>
                <a:srgbClr val="17B897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49808"/>
            <a:ext cx="91440" cy="457200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69494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微软雅黑" panose="020B0503020204020204" charset="-122"/>
              </a:rPr>
              <a:t>01 · 一句话介绍</a:t>
            </a:r>
            <a:endParaRPr sz="13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78992" y="987552"/>
            <a:ext cx="102412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0222B"/>
                </a:solidFill>
                <a:latin typeface="微软雅黑" panose="020B0503020204020204" charset="-122"/>
              </a:rPr>
              <a:t>AI Health Navigator 是什么</a:t>
            </a:r>
            <a:endParaRPr sz="310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0222B"/>
                </a:solidFill>
                <a:latin typeface="微软雅黑" panose="020B0503020204020204" charset="-122"/>
              </a:rPr>
              <a:t>从身体出现异常，到真正见到医生之前，帮你管理整段健康旅程。</a:t>
            </a:r>
            <a:endParaRPr sz="210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3200400"/>
            <a:ext cx="251460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40156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微软雅黑" panose="020B0503020204020204" charset="-122"/>
              </a:rPr>
              <a:t>Self-Triage</a:t>
            </a:r>
            <a:endParaRPr sz="13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24128" y="37947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0222B"/>
                </a:solidFill>
                <a:latin typeface="微软雅黑" panose="020B0503020204020204" charset="-122"/>
              </a:rPr>
              <a:t>自我分诊</a:t>
            </a:r>
            <a:endParaRPr sz="155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493008" y="3200400"/>
            <a:ext cx="251460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340156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微软雅黑" panose="020B0503020204020204" charset="-122"/>
              </a:rPr>
              <a:t>Health Episode</a:t>
            </a:r>
            <a:endParaRPr sz="13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694176" y="37947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0222B"/>
                </a:solidFill>
                <a:latin typeface="微软雅黑" panose="020B0503020204020204" charset="-122"/>
              </a:rPr>
              <a:t>健康事件</a:t>
            </a:r>
            <a:endParaRPr sz="155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163056" y="3200400"/>
            <a:ext cx="251460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340156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微软雅黑" panose="020B0503020204020204" charset="-122"/>
              </a:rPr>
              <a:t>Continuous Follow-up</a:t>
            </a:r>
            <a:endParaRPr sz="13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364224" y="37947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0222B"/>
                </a:solidFill>
                <a:latin typeface="微软雅黑" panose="020B0503020204020204" charset="-122"/>
              </a:rPr>
              <a:t>持续追踪</a:t>
            </a:r>
            <a:endParaRPr sz="155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833104" y="3200400"/>
            <a:ext cx="251460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34272" y="340156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微软雅黑" panose="020B0503020204020204" charset="-122"/>
              </a:rPr>
              <a:t>Doctor Handoff</a:t>
            </a:r>
            <a:endParaRPr sz="13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034272" y="37947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0222B"/>
                </a:solidFill>
                <a:latin typeface="微软雅黑" panose="020B0503020204020204" charset="-122"/>
              </a:rPr>
              <a:t>就医摘要</a:t>
            </a:r>
            <a:endParaRPr sz="155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22960" y="4937760"/>
            <a:ext cx="10515600" cy="731520"/>
          </a:xfrm>
          <a:prstGeom prst="roundRect">
            <a:avLst>
              <a:gd name="adj" fmla="val 30000"/>
            </a:avLst>
          </a:prstGeom>
          <a:solidFill>
            <a:srgbClr val="E6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937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D6B5C"/>
                </a:solidFill>
                <a:latin typeface="微软雅黑" panose="020B0503020204020204" charset="-122"/>
              </a:rPr>
              <a:t>已有可交互 Web Demo（虚构数据 · 不替代医疗建议）</a:t>
            </a:r>
            <a:r>
              <a:rPr sz="1300" b="0">
                <a:solidFill>
                  <a:srgbClr val="4A5B64"/>
                </a:solidFill>
                <a:latin typeface="微软雅黑" panose="020B0503020204020204" charset="-122"/>
              </a:rPr>
              <a:t>   首页 / 结构化问询 / Episode 时间线 / 症状趋势 / 就医摘要</a:t>
            </a:r>
            <a:endParaRPr sz="1300" b="0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9A2"/>
                </a:solidFill>
                <a:latin typeface="微软雅黑" panose="020B0503020204020204" charset="-122"/>
              </a:rPr>
              <a:t>AI Health Navigator · 团队招募</a:t>
            </a:r>
            <a:endParaRPr sz="1000" b="0">
              <a:solidFill>
                <a:srgbClr val="8A99A2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A5B64"/>
                </a:solidFill>
                <a:latin typeface="微软雅黑" panose="020B0503020204020204" charset="-122"/>
              </a:rPr>
              <a:t>2</a:t>
            </a:r>
            <a:endParaRPr sz="1100" b="1">
              <a:solidFill>
                <a:srgbClr val="4A5B64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49808"/>
            <a:ext cx="91440" cy="457200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69494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微软雅黑" panose="020B0503020204020204" charset="-122"/>
              </a:rPr>
              <a:t>02 · 问题</a:t>
            </a:r>
            <a:endParaRPr sz="13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78992" y="987552"/>
            <a:ext cx="102412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0222B"/>
                </a:solidFill>
                <a:latin typeface="微软雅黑" panose="020B0503020204020204" charset="-122"/>
              </a:rPr>
              <a:t>今天的不舒服，卡在哪一步</a:t>
            </a:r>
            <a:endParaRPr sz="310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4846320" cy="3263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700" b="1">
                <a:solidFill>
                  <a:srgbClr val="10222B"/>
                </a:solidFill>
                <a:latin typeface="微软雅黑" panose="020B0503020204020204" charset="-122"/>
              </a:rPr>
              <a:t>一些常见的</a:t>
            </a:r>
            <a:r>
              <a:rPr lang="zh-CN" sz="1700" b="1">
                <a:solidFill>
                  <a:srgbClr val="10222B"/>
                </a:solidFill>
                <a:latin typeface="微软雅黑" panose="020B0503020204020204" charset="-122"/>
              </a:rPr>
              <a:t>困惑：</a:t>
            </a:r>
            <a:endParaRPr lang="zh-CN" sz="170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22960" y="2926080"/>
            <a:ext cx="82296" cy="566928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926080"/>
            <a:ext cx="4572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D6B5C"/>
                </a:solidFill>
                <a:latin typeface="微软雅黑" panose="020B0503020204020204" charset="-122"/>
              </a:rPr>
              <a:t>我现在该怎么办？</a:t>
            </a:r>
            <a:endParaRPr sz="20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22960" y="3639312"/>
            <a:ext cx="82296" cy="566928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639312"/>
            <a:ext cx="4572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D6B5C"/>
                </a:solidFill>
                <a:latin typeface="微软雅黑" panose="020B0503020204020204" charset="-122"/>
              </a:rPr>
              <a:t>需要去医院吗？</a:t>
            </a:r>
            <a:endParaRPr sz="20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22960" y="4352544"/>
            <a:ext cx="82296" cy="566928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352544"/>
            <a:ext cx="4572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D6B5C"/>
                </a:solidFill>
                <a:latin typeface="微软雅黑" panose="020B0503020204020204" charset="-122"/>
              </a:rPr>
              <a:t>什么时候不能再等？</a:t>
            </a:r>
            <a:endParaRPr sz="20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126480" y="2057400"/>
            <a:ext cx="521208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3774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222B"/>
                </a:solidFill>
                <a:latin typeface="微软雅黑" panose="020B0503020204020204" charset="-122"/>
              </a:rPr>
              <a:t>现有的「搜索循环」</a:t>
            </a:r>
            <a:endParaRPr sz="160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4A5B64"/>
                </a:solidFill>
                <a:latin typeface="微软雅黑" panose="020B0503020204020204" charset="-122"/>
              </a:rPr>
              <a:t>反复搜索 / 问 AI</a:t>
            </a:r>
            <a:endParaRPr sz="1450" b="1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629400" y="3401568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A99A2"/>
                </a:solidFill>
                <a:latin typeface="微软雅黑" panose="020B0503020204020204" charset="-122"/>
              </a:rPr>
              <a:t>↓</a:t>
            </a:r>
            <a:endParaRPr sz="1500" b="1">
              <a:solidFill>
                <a:srgbClr val="8A99A2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92240" y="3675887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4A5B64"/>
                </a:solidFill>
                <a:latin typeface="微软雅黑" panose="020B0503020204020204" charset="-122"/>
              </a:rPr>
              <a:t>得到碎片化答案</a:t>
            </a:r>
            <a:endParaRPr sz="1450" b="1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629400" y="4059935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A99A2"/>
                </a:solidFill>
                <a:latin typeface="微软雅黑" panose="020B0503020204020204" charset="-122"/>
              </a:rPr>
              <a:t>↓</a:t>
            </a:r>
            <a:endParaRPr sz="1500" b="1">
              <a:solidFill>
                <a:srgbClr val="8A99A2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92240" y="4334256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4A5B64"/>
                </a:solidFill>
                <a:latin typeface="微软雅黑" panose="020B0503020204020204" charset="-122"/>
              </a:rPr>
              <a:t>越来越不确定、更焦虑</a:t>
            </a:r>
            <a:endParaRPr sz="1450" b="1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29400" y="47183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A99A2"/>
                </a:solidFill>
                <a:latin typeface="微软雅黑" panose="020B0503020204020204" charset="-122"/>
              </a:rPr>
              <a:t>↓</a:t>
            </a:r>
            <a:endParaRPr sz="1500" b="1">
              <a:solidFill>
                <a:srgbClr val="8A99A2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92240" y="4992624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4A5B64"/>
                </a:solidFill>
                <a:latin typeface="微软雅黑" panose="020B0503020204020204" charset="-122"/>
              </a:rPr>
              <a:t>继续搜索</a:t>
            </a:r>
            <a:endParaRPr sz="1450" b="1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629400" y="5669279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微软雅黑" panose="020B0503020204020204" charset="-122"/>
              </a:rPr>
              <a:t>↻ 又回到原点</a:t>
            </a:r>
            <a:endParaRPr sz="13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9A2"/>
                </a:solidFill>
                <a:latin typeface="微软雅黑" panose="020B0503020204020204" charset="-122"/>
              </a:rPr>
              <a:t>AI Health Navigator · 团队招募</a:t>
            </a:r>
            <a:endParaRPr sz="1000" b="0">
              <a:solidFill>
                <a:srgbClr val="8A99A2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881360" y="647395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A5B64"/>
                </a:solidFill>
                <a:latin typeface="微软雅黑" panose="020B0503020204020204" charset="-122"/>
              </a:rPr>
              <a:t>3</a:t>
            </a:r>
            <a:endParaRPr sz="1100" b="1">
              <a:solidFill>
                <a:srgbClr val="4A5B64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49808"/>
            <a:ext cx="91440" cy="457200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69494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微软雅黑" panose="020B0503020204020204" charset="-122"/>
              </a:rPr>
              <a:t>03 · Solution</a:t>
            </a:r>
            <a:endParaRPr sz="13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78992" y="987552"/>
            <a:ext cx="102412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0222B"/>
                </a:solidFill>
                <a:latin typeface="微软雅黑" panose="020B0503020204020204" charset="-122"/>
              </a:rPr>
              <a:t>一次 Health Episode 管到底</a:t>
            </a:r>
            <a:endParaRPr sz="310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0222B"/>
                </a:solidFill>
                <a:latin typeface="微软雅黑" panose="020B0503020204020204" charset="-122"/>
              </a:rPr>
              <a:t>不是搜索引擎式的症状罗列，而是一条有始有终的线索。</a:t>
            </a:r>
            <a:endParaRPr sz="170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1810512" cy="8686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D6B5C"/>
                </a:solidFill>
                <a:latin typeface="微软雅黑" panose="020B0503020204020204" charset="-122"/>
              </a:rPr>
              <a:t>描述不适</a:t>
            </a:r>
            <a:endParaRPr sz="135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633472" y="3017520"/>
            <a:ext cx="3657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B64"/>
                </a:solidFill>
                <a:latin typeface="微软雅黑" panose="020B0503020204020204" charset="-122"/>
              </a:rPr>
              <a:t>→</a:t>
            </a:r>
            <a:endParaRPr sz="1700" b="1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999232" y="3017520"/>
            <a:ext cx="1810512" cy="8686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D6B5C"/>
                </a:solidFill>
                <a:latin typeface="微软雅黑" panose="020B0503020204020204" charset="-122"/>
              </a:rPr>
              <a:t>结构化分诊</a:t>
            </a:r>
            <a:endParaRPr sz="135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09744" y="3017520"/>
            <a:ext cx="3657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B64"/>
                </a:solidFill>
                <a:latin typeface="微软雅黑" panose="020B0503020204020204" charset="-122"/>
              </a:rPr>
              <a:t>→</a:t>
            </a:r>
            <a:endParaRPr sz="1700" b="1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175504" y="3017520"/>
            <a:ext cx="1810512" cy="8686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D6B5C"/>
                </a:solidFill>
                <a:latin typeface="微软雅黑" panose="020B0503020204020204" charset="-122"/>
              </a:rPr>
              <a:t>建立健康事件</a:t>
            </a:r>
            <a:endParaRPr sz="135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986016" y="3017520"/>
            <a:ext cx="3657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B64"/>
                </a:solidFill>
                <a:latin typeface="微软雅黑" panose="020B0503020204020204" charset="-122"/>
              </a:rPr>
              <a:t>→</a:t>
            </a:r>
            <a:endParaRPr sz="1700" b="1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351775" y="3017520"/>
            <a:ext cx="1810512" cy="8686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D6B5C"/>
                </a:solidFill>
                <a:latin typeface="微软雅黑" panose="020B0503020204020204" charset="-122"/>
              </a:rPr>
              <a:t>持续追踪</a:t>
            </a:r>
            <a:endParaRPr sz="135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162288" y="3017520"/>
            <a:ext cx="3657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B64"/>
                </a:solidFill>
                <a:latin typeface="微软雅黑" panose="020B0503020204020204" charset="-122"/>
              </a:rPr>
              <a:t>→</a:t>
            </a:r>
            <a:endParaRPr sz="1700" b="1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528047" y="3017520"/>
            <a:ext cx="1810512" cy="8686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D6B5C"/>
                </a:solidFill>
                <a:latin typeface="微软雅黑" panose="020B0503020204020204" charset="-122"/>
              </a:rPr>
              <a:t>就医摘要</a:t>
            </a:r>
            <a:endParaRPr sz="135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2960" y="42062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5B64"/>
                </a:solidFill>
                <a:latin typeface="微软雅黑" panose="020B0503020204020204" charset="-122"/>
              </a:rPr>
              <a:t>每一步，都有据可循；每一次变化，都被记录。</a:t>
            </a:r>
            <a:endParaRPr sz="1350" b="0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22960" y="4892040"/>
            <a:ext cx="10515600" cy="1051560"/>
          </a:xfrm>
          <a:prstGeom prst="roundRect">
            <a:avLst>
              <a:gd name="adj" fmla="val 14000"/>
            </a:avLst>
          </a:prstGeom>
          <a:solidFill>
            <a:srgbClr val="E6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512064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D6B5C"/>
                </a:solidFill>
                <a:latin typeface="微软雅黑" panose="020B0503020204020204" charset="-122"/>
              </a:rPr>
              <a:t>We don't replace doctors.</a:t>
            </a:r>
            <a:endParaRPr sz="21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234440" y="553212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B64"/>
                </a:solidFill>
                <a:latin typeface="微软雅黑" panose="020B0503020204020204" charset="-122"/>
              </a:rPr>
              <a:t>We connect everyday health uncertainty with professional care.</a:t>
            </a:r>
            <a:endParaRPr sz="1400" b="0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9A2"/>
                </a:solidFill>
                <a:latin typeface="微软雅黑" panose="020B0503020204020204" charset="-122"/>
              </a:rPr>
              <a:t>AI Health Navigator · 团队招募</a:t>
            </a:r>
            <a:endParaRPr sz="1000" b="0">
              <a:solidFill>
                <a:srgbClr val="8A99A2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881360" y="647395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A5B64"/>
                </a:solidFill>
                <a:latin typeface="微软雅黑" panose="020B0503020204020204" charset="-122"/>
              </a:rPr>
              <a:t>4</a:t>
            </a:r>
            <a:endParaRPr sz="1100" b="1">
              <a:solidFill>
                <a:srgbClr val="4A5B64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49808"/>
            <a:ext cx="91440" cy="457200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69494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微软雅黑" panose="020B0503020204020204" charset="-122"/>
              </a:rPr>
              <a:t>04 · 为什么现在</a:t>
            </a:r>
            <a:endParaRPr sz="13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78992" y="987552"/>
            <a:ext cx="102412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0222B"/>
                </a:solidFill>
                <a:latin typeface="微软雅黑" panose="020B0503020204020204" charset="-122"/>
              </a:rPr>
              <a:t>三个趋势在此交汇</a:t>
            </a:r>
            <a:endParaRPr sz="310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338328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D6B5C"/>
                </a:solidFill>
                <a:latin typeface="微软雅黑" panose="020B0503020204020204" charset="-122"/>
              </a:rPr>
              <a:t>AI</a:t>
            </a:r>
            <a:endParaRPr sz="20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" y="3383280"/>
            <a:ext cx="28346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B64"/>
                </a:solidFill>
                <a:latin typeface="微软雅黑" panose="020B0503020204020204" charset="-122"/>
              </a:rPr>
              <a:t>LLM 让多轮、可解释的对话式问询真正可用，不再是关键词匹配。</a:t>
            </a:r>
            <a:endParaRPr sz="1400" b="0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389120" y="2331720"/>
            <a:ext cx="338328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74320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D6B5C"/>
                </a:solidFill>
                <a:latin typeface="微软雅黑" panose="020B0503020204020204" charset="-122"/>
              </a:rPr>
              <a:t>Data</a:t>
            </a:r>
            <a:endParaRPr sz="20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63440" y="3383280"/>
            <a:ext cx="28346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B64"/>
                </a:solidFill>
                <a:latin typeface="微软雅黑" panose="020B0503020204020204" charset="-122"/>
              </a:rPr>
              <a:t>个人健康数据（可穿戴 / 手动记录）终于可以被持续追踪与解释。</a:t>
            </a:r>
            <a:endParaRPr sz="1400" b="0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955279" y="2331720"/>
            <a:ext cx="338328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74320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D6B5C"/>
                </a:solidFill>
                <a:latin typeface="微软雅黑" panose="020B0503020204020204" charset="-122"/>
              </a:rPr>
              <a:t>Healthcare Gap</a:t>
            </a:r>
            <a:endParaRPr sz="20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229600" y="3383280"/>
            <a:ext cx="28346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B64"/>
                </a:solidFill>
                <a:latin typeface="微软雅黑" panose="020B0503020204020204" charset="-122"/>
              </a:rPr>
              <a:t>日常的不确定与专业医疗之间，缺一个可信的连接层。</a:t>
            </a:r>
            <a:endParaRPr sz="1400" b="0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222B"/>
                </a:solidFill>
                <a:latin typeface="微软雅黑" panose="020B0503020204020204" charset="-122"/>
              </a:rPr>
              <a:t>现在做，不是「能做什么」，而是「正好能做」。</a:t>
            </a:r>
            <a:endParaRPr sz="140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9A2"/>
                </a:solidFill>
                <a:latin typeface="微软雅黑" panose="020B0503020204020204" charset="-122"/>
              </a:rPr>
              <a:t>AI Health Navigator · 团队招募</a:t>
            </a:r>
            <a:endParaRPr sz="1000" b="0">
              <a:solidFill>
                <a:srgbClr val="8A99A2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A5B64"/>
                </a:solidFill>
                <a:latin typeface="微软雅黑" panose="020B0503020204020204" charset="-122"/>
              </a:rPr>
              <a:t>5</a:t>
            </a:r>
            <a:endParaRPr sz="1100" b="1">
              <a:solidFill>
                <a:srgbClr val="4A5B64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49808"/>
            <a:ext cx="91440" cy="457200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69494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微软雅黑" panose="020B0503020204020204" charset="-122"/>
              </a:rPr>
              <a:t>05 · 进度</a:t>
            </a:r>
            <a:endParaRPr sz="13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78992" y="987552"/>
            <a:ext cx="10241280" cy="476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100" b="1">
                <a:solidFill>
                  <a:srgbClr val="10222B"/>
                </a:solidFill>
                <a:latin typeface="微软雅黑" panose="020B0503020204020204" charset="-122"/>
              </a:rPr>
              <a:t>不只是一张</a:t>
            </a:r>
            <a:r>
              <a:rPr sz="3100" b="1">
                <a:solidFill>
                  <a:srgbClr val="10222B"/>
                </a:solidFill>
                <a:latin typeface="微软雅黑" panose="020B0503020204020204" charset="-122"/>
              </a:rPr>
              <a:t> PPT</a:t>
            </a:r>
            <a:r>
              <a:rPr lang="zh-CN" sz="3100" b="1">
                <a:solidFill>
                  <a:srgbClr val="10222B"/>
                </a:solidFill>
                <a:latin typeface="微软雅黑" panose="020B0503020204020204" charset="-122"/>
              </a:rPr>
              <a:t>！</a:t>
            </a:r>
            <a:endParaRPr lang="zh-CN" sz="310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微软雅黑" panose="020B0503020204020204" charset="-122"/>
              </a:rPr>
              <a:t>已完成</a:t>
            </a:r>
            <a:endParaRPr sz="13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B897"/>
                </a:solidFill>
                <a:latin typeface="微软雅黑" panose="020B0503020204020204" charset="-122"/>
              </a:rPr>
              <a:t>✓</a:t>
            </a:r>
            <a:endParaRPr sz="2000" b="1">
              <a:solidFill>
                <a:srgbClr val="17B897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17320" y="251460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0222B"/>
                </a:solidFill>
                <a:latin typeface="微软雅黑" panose="020B0503020204020204" charset="-122"/>
              </a:rPr>
              <a:t>可交互 Web Demo</a:t>
            </a:r>
            <a:endParaRPr sz="155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417320" y="2862072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B64"/>
                </a:solidFill>
                <a:latin typeface="微软雅黑" panose="020B0503020204020204" charset="-122"/>
              </a:rPr>
              <a:t>首页 / 结构化问询 / Episode 时间线 / 症状趋势 / 就医摘要</a:t>
            </a:r>
            <a:endParaRPr sz="1200" b="0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B897"/>
                </a:solidFill>
                <a:latin typeface="微软雅黑" panose="020B0503020204020204" charset="-122"/>
              </a:rPr>
              <a:t>✓</a:t>
            </a:r>
            <a:endParaRPr sz="2000" b="1">
              <a:solidFill>
                <a:srgbClr val="17B897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417320" y="37033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0222B"/>
                </a:solidFill>
                <a:latin typeface="微软雅黑" panose="020B0503020204020204" charset="-122"/>
              </a:rPr>
              <a:t>项目 Demo PPT + 演示动画</a:t>
            </a:r>
            <a:endParaRPr sz="155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417320" y="4050791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B64"/>
                </a:solidFill>
                <a:latin typeface="微软雅黑" panose="020B0503020204020204" charset="-122"/>
              </a:rPr>
              <a:t>产品定位、核心用户流程、商业模式</a:t>
            </a:r>
            <a:endParaRPr sz="1200" b="0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2960" y="4892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7B897"/>
                </a:solidFill>
                <a:latin typeface="微软雅黑" panose="020B0503020204020204" charset="-122"/>
              </a:rPr>
              <a:t>✓</a:t>
            </a:r>
            <a:endParaRPr sz="2000" b="1">
              <a:solidFill>
                <a:srgbClr val="17B897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17320" y="489204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0222B"/>
                </a:solidFill>
                <a:latin typeface="微软雅黑" panose="020B0503020204020204" charset="-122"/>
              </a:rPr>
              <a:t>产品定位与核心流程</a:t>
            </a:r>
            <a:endParaRPr sz="155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417320" y="5239512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B64"/>
                </a:solidFill>
                <a:latin typeface="微软雅黑" panose="020B0503020204020204" charset="-122"/>
              </a:rPr>
              <a:t>Self-Triage · Health Episode · Follow-up · Handoff</a:t>
            </a:r>
            <a:endParaRPr sz="1200" b="0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2960" y="585216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0222B"/>
                </a:solidFill>
                <a:latin typeface="微软雅黑" panose="020B0503020204020204" charset="-122"/>
              </a:rPr>
              <a:t>下一步：真实用户访谈 → 快速迭代 → 验证假设</a:t>
            </a:r>
            <a:endParaRPr sz="135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949440" y="2286000"/>
            <a:ext cx="429768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emo-q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2743200"/>
            <a:ext cx="2011680" cy="2011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92440" y="4828032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微软雅黑" panose="020B0503020204020204" charset="-122"/>
              </a:rPr>
              <a:t>扫码体验 Demo</a:t>
            </a:r>
            <a:endParaRPr sz="13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315200" y="5230368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B64"/>
                </a:solidFill>
                <a:latin typeface="微软雅黑" panose="020B0503020204020204" charset="-122"/>
              </a:rPr>
              <a:t>msmile-shiny.github.io/Health-Episode-</a:t>
            </a:r>
            <a:endParaRPr sz="1000" b="0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9A2"/>
                </a:solidFill>
                <a:latin typeface="微软雅黑" panose="020B0503020204020204" charset="-122"/>
              </a:rPr>
              <a:t>AI Health Navigator · 团队招募</a:t>
            </a:r>
            <a:endParaRPr sz="1000" b="0">
              <a:solidFill>
                <a:srgbClr val="8A99A2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A5B64"/>
                </a:solidFill>
                <a:latin typeface="微软雅黑" panose="020B0503020204020204" charset="-122"/>
              </a:rPr>
              <a:t>6</a:t>
            </a:r>
            <a:endParaRPr sz="1100" b="1">
              <a:solidFill>
                <a:srgbClr val="4A5B64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49808"/>
            <a:ext cx="91440" cy="457200"/>
          </a:xfrm>
          <a:prstGeom prst="rect">
            <a:avLst/>
          </a:prstGeom>
          <a:solidFill>
            <a:srgbClr val="17B8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694944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D6B5C"/>
                </a:solidFill>
                <a:latin typeface="微软雅黑" panose="020B0503020204020204" charset="-122"/>
              </a:rPr>
              <a:t>06 · 找谁</a:t>
            </a:r>
            <a:endParaRPr sz="13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78992" y="1031367"/>
            <a:ext cx="10241280" cy="476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100" b="1">
                <a:solidFill>
                  <a:srgbClr val="10222B"/>
                </a:solidFill>
                <a:latin typeface="微软雅黑" panose="020B0503020204020204" charset="-122"/>
              </a:rPr>
              <a:t>We Need You!</a:t>
            </a:r>
            <a:endParaRPr lang="en-US" sz="310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>
            <p:custDataLst>
              <p:tags r:id="rId1"/>
            </p:custDataLst>
          </p:nvPr>
        </p:nvSpPr>
        <p:spPr>
          <a:xfrm>
            <a:off x="822960" y="2377440"/>
            <a:ext cx="2029968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>
            <p:custDataLst>
              <p:tags r:id="rId2"/>
            </p:custDataLst>
          </p:nvPr>
        </p:nvSpPr>
        <p:spPr>
          <a:xfrm>
            <a:off x="1463040" y="2743200"/>
            <a:ext cx="749808" cy="749808"/>
          </a:xfrm>
          <a:prstGeom prst="ellipse">
            <a:avLst/>
          </a:prstGeom>
          <a:solidFill>
            <a:srgbClr val="E6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0222B"/>
                </a:solidFill>
                <a:latin typeface="微软雅黑" panose="020B0503020204020204" charset="-122"/>
                <a:sym typeface="+mn-ea"/>
              </a:rPr>
              <a:t>产品</a:t>
            </a:r>
            <a:endParaRPr sz="15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>
            <p:custDataLst>
              <p:tags r:id="rId3"/>
            </p:custDataLst>
          </p:nvPr>
        </p:nvSpPr>
        <p:spPr>
          <a:xfrm>
            <a:off x="987552" y="3749039"/>
            <a:ext cx="1700784" cy="8616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rgbClr val="4A5B64"/>
                </a:solidFill>
                <a:latin typeface="微软雅黑" panose="020B0503020204020204" charset="-122"/>
              </a:rPr>
              <a:t>负责用户调研、需求分析、产品功能设计、商业模式与整体项目推进</a:t>
            </a:r>
            <a:endParaRPr lang="en-US" altLang="zh-CN" sz="1400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>
            <p:custDataLst>
              <p:tags r:id="rId4"/>
            </p:custDataLst>
          </p:nvPr>
        </p:nvSpPr>
        <p:spPr>
          <a:xfrm>
            <a:off x="2944368" y="2377440"/>
            <a:ext cx="2029968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>
            <p:custDataLst>
              <p:tags r:id="rId5"/>
            </p:custDataLst>
          </p:nvPr>
        </p:nvSpPr>
        <p:spPr>
          <a:xfrm>
            <a:off x="3584448" y="2743200"/>
            <a:ext cx="749808" cy="749808"/>
          </a:xfrm>
          <a:prstGeom prst="ellipse">
            <a:avLst/>
          </a:prstGeom>
          <a:solidFill>
            <a:srgbClr val="E6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0000"/>
              </a:lnSpc>
            </a:pPr>
            <a:r>
              <a:rPr lang="en-US" sz="1500" b="1">
                <a:solidFill>
                  <a:srgbClr val="0D6B5C"/>
                </a:solidFill>
                <a:latin typeface="微软雅黑" panose="020B0503020204020204" charset="-122"/>
              </a:rPr>
              <a:t>AI</a:t>
            </a:r>
            <a:endParaRPr lang="en-US" sz="15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3108960" y="3749039"/>
            <a:ext cx="1700784" cy="8616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rgbClr val="4A5B64"/>
                </a:solidFill>
                <a:latin typeface="微软雅黑" panose="020B0503020204020204" charset="-122"/>
              </a:rPr>
              <a:t>搭建 AI 问询、Self-Triage、Health Episode 追踪与信息总结等核心 AI 功能</a:t>
            </a:r>
            <a:endParaRPr lang="zh-CN" altLang="en-US" sz="140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>
            <p:custDataLst>
              <p:tags r:id="rId7"/>
            </p:custDataLst>
          </p:nvPr>
        </p:nvSpPr>
        <p:spPr>
          <a:xfrm>
            <a:off x="5065776" y="2377440"/>
            <a:ext cx="2029968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>
            <p:custDataLst>
              <p:tags r:id="rId8"/>
            </p:custDataLst>
          </p:nvPr>
        </p:nvSpPr>
        <p:spPr>
          <a:xfrm>
            <a:off x="5705856" y="2743200"/>
            <a:ext cx="749808" cy="749808"/>
          </a:xfrm>
          <a:prstGeom prst="ellipse">
            <a:avLst/>
          </a:prstGeom>
          <a:solidFill>
            <a:srgbClr val="E6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1">
                <a:solidFill>
                  <a:srgbClr val="0D6B5C"/>
                </a:solidFill>
                <a:latin typeface="微软雅黑" panose="020B0503020204020204" charset="-122"/>
                <a:sym typeface="+mn-ea"/>
              </a:rPr>
              <a:t>全栈</a:t>
            </a:r>
            <a:endParaRPr sz="15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9"/>
            </p:custDataLst>
          </p:nvPr>
        </p:nvSpPr>
        <p:spPr>
          <a:xfrm>
            <a:off x="5230368" y="3749039"/>
            <a:ext cx="1700784" cy="8616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rgbClr val="4A5B64"/>
                </a:solidFill>
                <a:latin typeface="微软雅黑" panose="020B0503020204020204" charset="-122"/>
              </a:rPr>
              <a:t>负责网页/App 前后端开发、数据库和 API 接入，把 Demo 迭代成可使用的 MVP</a:t>
            </a:r>
            <a:endParaRPr lang="en-US" altLang="zh-CN" sz="1400" b="1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>
            <p:custDataLst>
              <p:tags r:id="rId10"/>
            </p:custDataLst>
          </p:nvPr>
        </p:nvSpPr>
        <p:spPr>
          <a:xfrm>
            <a:off x="5230368" y="4206240"/>
            <a:ext cx="1700784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altLang="zh-CN" sz="1150" b="0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11"/>
            </p:custDataLst>
          </p:nvPr>
        </p:nvSpPr>
        <p:spPr>
          <a:xfrm>
            <a:off x="7187184" y="2377440"/>
            <a:ext cx="2029968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>
            <p:custDataLst>
              <p:tags r:id="rId12"/>
            </p:custDataLst>
          </p:nvPr>
        </p:nvSpPr>
        <p:spPr>
          <a:xfrm>
            <a:off x="7827264" y="2743200"/>
            <a:ext cx="749808" cy="749808"/>
          </a:xfrm>
          <a:prstGeom prst="ellipse">
            <a:avLst/>
          </a:prstGeom>
          <a:solidFill>
            <a:srgbClr val="E6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0222B"/>
                </a:solidFill>
                <a:latin typeface="微软雅黑" panose="020B0503020204020204" charset="-122"/>
                <a:sym typeface="+mn-ea"/>
              </a:rPr>
              <a:t>医学</a:t>
            </a:r>
            <a:endParaRPr sz="15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>
            <p:custDataLst>
              <p:tags r:id="rId13"/>
            </p:custDataLst>
          </p:nvPr>
        </p:nvSpPr>
        <p:spPr>
          <a:xfrm>
            <a:off x="7351776" y="3749039"/>
            <a:ext cx="1700784" cy="8616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rgbClr val="4A5B64"/>
                </a:solidFill>
                <a:latin typeface="微软雅黑" panose="020B0503020204020204" charset="-122"/>
              </a:rPr>
              <a:t>负责医学资料整理、分诊逻辑设计、医学内容审核与安全边界把控</a:t>
            </a:r>
            <a:endParaRPr lang="en-US" altLang="zh-CN" sz="1400">
              <a:solidFill>
                <a:srgbClr val="4A5B64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>
            <p:custDataLst>
              <p:tags r:id="rId14"/>
            </p:custDataLst>
          </p:nvPr>
        </p:nvSpPr>
        <p:spPr>
          <a:xfrm>
            <a:off x="9308592" y="2377440"/>
            <a:ext cx="2029968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DE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>
            <p:custDataLst>
              <p:tags r:id="rId15"/>
            </p:custDataLst>
          </p:nvPr>
        </p:nvSpPr>
        <p:spPr>
          <a:xfrm>
            <a:off x="9948672" y="2743200"/>
            <a:ext cx="749808" cy="749808"/>
          </a:xfrm>
          <a:prstGeom prst="ellipse">
            <a:avLst/>
          </a:prstGeom>
          <a:solidFill>
            <a:srgbClr val="E6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0222B"/>
                </a:solidFill>
                <a:latin typeface="微软雅黑" panose="020B0503020204020204" charset="-122"/>
                <a:sym typeface="+mn-ea"/>
              </a:rPr>
              <a:t>设计</a:t>
            </a:r>
            <a:endParaRPr sz="1500" b="1">
              <a:solidFill>
                <a:srgbClr val="0D6B5C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>
            <p:custDataLst>
              <p:tags r:id="rId16"/>
            </p:custDataLst>
          </p:nvPr>
        </p:nvSpPr>
        <p:spPr>
          <a:xfrm>
            <a:off x="9473184" y="3749039"/>
            <a:ext cx="1700784" cy="645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>
                  <a:srgbClr val="4A5B64"/>
                </a:solidFill>
                <a:latin typeface="微软雅黑" panose="020B0503020204020204" charset="-122"/>
              </a:rPr>
              <a:t>负责界面与交互设计、用户测试、产品视觉以及早期推广</a:t>
            </a:r>
            <a:endParaRPr lang="zh-CN" altLang="en-US" sz="1700" b="1">
              <a:solidFill>
                <a:srgbClr val="10222B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22960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9A2"/>
                </a:solidFill>
                <a:latin typeface="微软雅黑" panose="020B0503020204020204" charset="-122"/>
              </a:rPr>
              <a:t>AI Health Navigator · 团队招募</a:t>
            </a:r>
            <a:endParaRPr sz="1000" b="0">
              <a:solidFill>
                <a:srgbClr val="8A99A2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881360" y="6473952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A5B64"/>
                </a:solidFill>
                <a:latin typeface="微软雅黑" panose="020B0503020204020204" charset="-122"/>
              </a:rPr>
              <a:t>7</a:t>
            </a:r>
            <a:endParaRPr sz="1100" b="1">
              <a:solidFill>
                <a:srgbClr val="4A5B64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08.8,&quot;left&quot;:64.8,&quot;top&quot;:187.2,&quot;width&quot;:828}"/>
</p:tagLst>
</file>

<file path=ppt/tags/tag2.xml><?xml version="1.0" encoding="utf-8"?>
<p:tagLst xmlns:p="http://schemas.openxmlformats.org/presentationml/2006/main">
  <p:tag name="KSO_WM_DIAGRAM_VIRTUALLY_FRAME" val="{&quot;height&quot;:208.8,&quot;left&quot;:64.8,&quot;top&quot;:187.2,&quot;width&quot;:828}"/>
</p:tagLst>
</file>

<file path=ppt/tags/tag3.xml><?xml version="1.0" encoding="utf-8"?>
<p:tagLst xmlns:p="http://schemas.openxmlformats.org/presentationml/2006/main">
  <p:tag name="KSO_WM_DIAGRAM_VIRTUALLY_FRAME" val="{&quot;height&quot;:208.8,&quot;left&quot;:64.8,&quot;top&quot;:187.2,&quot;width&quot;:828}"/>
</p:tagLst>
</file>

<file path=ppt/tags/tag4.xml><?xml version="1.0" encoding="utf-8"?>
<p:tagLst xmlns:p="http://schemas.openxmlformats.org/presentationml/2006/main">
  <p:tag name="KSO_WM_DIAGRAM_VIRTUALLY_FRAME" val="{&quot;height&quot;:208.8,&quot;left&quot;:64.8,&quot;top&quot;:187.2,&quot;width&quot;:828}"/>
</p:tagLst>
</file>

<file path=ppt/tags/tag5.xml><?xml version="1.0" encoding="utf-8"?>
<p:tagLst xmlns:p="http://schemas.openxmlformats.org/presentationml/2006/main">
  <p:tag name="KSO_WM_DIAGRAM_VIRTUALLY_FRAME" val="{&quot;height&quot;:208.8,&quot;left&quot;:64.8,&quot;top&quot;:187.2,&quot;width&quot;:828}"/>
</p:tagLst>
</file>

<file path=ppt/tags/tag6.xml><?xml version="1.0" encoding="utf-8"?>
<p:tagLst xmlns:p="http://schemas.openxmlformats.org/presentationml/2006/main">
  <p:tag name="KSO_WM_DIAGRAM_VIRTUALLY_FRAME" val="{&quot;height&quot;:208.8,&quot;left&quot;:64.8,&quot;top&quot;:187.2,&quot;width&quot;:828}"/>
</p:tagLst>
</file>

<file path=ppt/tags/tag7.xml><?xml version="1.0" encoding="utf-8"?>
<p:tagLst xmlns:p="http://schemas.openxmlformats.org/presentationml/2006/main">
  <p:tag name="KSO_WM_DIAGRAM_VIRTUALLY_FRAME" val="{&quot;height&quot;:208.8,&quot;left&quot;:64.8,&quot;top&quot;:187.2,&quot;width&quot;:828}"/>
</p:tagLst>
</file>

<file path=ppt/tags/tag8.xml><?xml version="1.0" encoding="utf-8"?>
<p:tagLst xmlns:p="http://schemas.openxmlformats.org/presentationml/2006/main">
  <p:tag name="KSO_WM_DIAGRAM_VIRTUALLY_FRAME" val="{&quot;height&quot;:208.8,&quot;left&quot;:64.8,&quot;top&quot;:187.2,&quot;width&quot;:828}"/>
</p:tagLst>
</file>

<file path=ppt/tags/tag9.xml><?xml version="1.0" encoding="utf-8"?>
<p:tagLst xmlns:p="http://schemas.openxmlformats.org/presentationml/2006/main">
  <p:tag name="KSO_WM_DIAGRAM_VIRTUALLY_FRAME" val="{&quot;height&quot;:208.8,&quot;left&quot;:64.8,&quot;top&quot;:187.2,&quot;width&quot;:828}"/>
</p:tagLst>
</file>

<file path=ppt/tags/tag10.xml><?xml version="1.0" encoding="utf-8"?>
<p:tagLst xmlns:p="http://schemas.openxmlformats.org/presentationml/2006/main">
  <p:tag name="KSO_WM_DIAGRAM_VIRTUALLY_FRAME" val="{&quot;height&quot;:208.8,&quot;left&quot;:64.8,&quot;top&quot;:187.2,&quot;width&quot;:828}"/>
</p:tagLst>
</file>

<file path=ppt/tags/tag11.xml><?xml version="1.0" encoding="utf-8"?>
<p:tagLst xmlns:p="http://schemas.openxmlformats.org/presentationml/2006/main">
  <p:tag name="KSO_WM_DIAGRAM_VIRTUALLY_FRAME" val="{&quot;height&quot;:208.8,&quot;left&quot;:64.8,&quot;top&quot;:187.2,&quot;width&quot;:828}"/>
</p:tagLst>
</file>

<file path=ppt/tags/tag12.xml><?xml version="1.0" encoding="utf-8"?>
<p:tagLst xmlns:p="http://schemas.openxmlformats.org/presentationml/2006/main">
  <p:tag name="KSO_WM_DIAGRAM_VIRTUALLY_FRAME" val="{&quot;height&quot;:208.8,&quot;left&quot;:64.8,&quot;top&quot;:187.2,&quot;width&quot;:828}"/>
</p:tagLst>
</file>

<file path=ppt/tags/tag13.xml><?xml version="1.0" encoding="utf-8"?>
<p:tagLst xmlns:p="http://schemas.openxmlformats.org/presentationml/2006/main">
  <p:tag name="KSO_WM_DIAGRAM_VIRTUALLY_FRAME" val="{&quot;height&quot;:208.8,&quot;left&quot;:64.8,&quot;top&quot;:187.2,&quot;width&quot;:828}"/>
</p:tagLst>
</file>

<file path=ppt/tags/tag14.xml><?xml version="1.0" encoding="utf-8"?>
<p:tagLst xmlns:p="http://schemas.openxmlformats.org/presentationml/2006/main">
  <p:tag name="KSO_WM_DIAGRAM_VIRTUALLY_FRAME" val="{&quot;height&quot;:208.8,&quot;left&quot;:64.8,&quot;top&quot;:187.2,&quot;width&quot;:828}"/>
</p:tagLst>
</file>

<file path=ppt/tags/tag15.xml><?xml version="1.0" encoding="utf-8"?>
<p:tagLst xmlns:p="http://schemas.openxmlformats.org/presentationml/2006/main">
  <p:tag name="KSO_WM_DIAGRAM_VIRTUALLY_FRAME" val="{&quot;height&quot;:208.8,&quot;left&quot;:64.8,&quot;top&quot;:187.2,&quot;width&quot;:828}"/>
</p:tagLst>
</file>

<file path=ppt/tags/tag16.xml><?xml version="1.0" encoding="utf-8"?>
<p:tagLst xmlns:p="http://schemas.openxmlformats.org/presentationml/2006/main">
  <p:tag name="KSO_WM_DIAGRAM_VIRTUALLY_FRAME" val="{&quot;height&quot;:208.8,&quot;left&quot;:64.8,&quot;top&quot;:187.2,&quot;width&quot;:82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1440</Words>
  <Application>WPS 演示</Application>
  <PresentationFormat>On-screen Show (4:3)</PresentationFormat>
  <Paragraphs>192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5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huifen</cp:lastModifiedBy>
  <cp:revision>4</cp:revision>
  <dcterms:created xsi:type="dcterms:W3CDTF">2013-01-27T09:14:00Z</dcterms:created>
  <dcterms:modified xsi:type="dcterms:W3CDTF">2026-09-29T16:08:14Z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5C5DA3C28E364094B341485D307EF8E3_12</vt:lpwstr>
  </property>
  <property fmtid="{D5CDD505-2E9C-101B-9397-08002B2CF9AE}" pid="3" name="KSOProductBuildVer">
    <vt:lpwstr>2052-12.1.0.28043</vt:lpwstr>
  </property>
</Properties>
</file>