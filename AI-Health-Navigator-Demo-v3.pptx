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6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8680" y="91440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0A564A"/>
                </a:solidFill>
                <a:latin typeface="Microsoft YaHei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06070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B897"/>
                </a:solidFill>
                <a:latin typeface="Microsoft YaHei"/>
              </a:rPr>
              <a:t>AI HEALTH NAVIGATOR · 项目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92024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从身体出现异常，到见到医生的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连续健康导航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977639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8E4DA"/>
                </a:solidFill>
                <a:latin typeface="Microsoft YaHei"/>
              </a:rPr>
              <a:t>建立 · 追踪 · 交接 —— 管理一次完整的 Health Episode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5074920"/>
            <a:ext cx="1463040" cy="4114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349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We don't replace the doctor.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B897"/>
                </a:solidFill>
                <a:latin typeface="Microsoft YaHei"/>
              </a:rPr>
              <a:t>We manage the journey before you see 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产品定位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连续健康导航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22B"/>
                </a:solidFill>
                <a:latin typeface="Microsoft YaHei"/>
              </a:rPr>
              <a:t>从身体出现异常，到决定是否就医，再到真正见到医生的连续健康导航。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10515600" cy="1024128"/>
          </a:xfrm>
          <a:prstGeom prst="roundRect">
            <a:avLst>
              <a:gd name="adj" fmla="val 14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33472"/>
            <a:ext cx="9875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6B5C"/>
                </a:solidFill>
                <a:latin typeface="Microsoft YaHei"/>
              </a:rPr>
              <a:t>核心场景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26080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222B"/>
                </a:solidFill>
                <a:latin typeface="Microsoft YaHei"/>
              </a:rPr>
              <a:t>“我有点不舒服，但不知道现在该怎么办。”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12463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核心用户画像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078224"/>
            <a:ext cx="338328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206240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0222B"/>
                </a:solidFill>
                <a:latin typeface="Microsoft YaHei"/>
              </a:rPr>
              <a:t>上班族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54456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请假难，就医时间成本高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078224"/>
            <a:ext cx="338328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206240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0222B"/>
                </a:solidFill>
                <a:latin typeface="Microsoft YaHei"/>
              </a:rPr>
              <a:t>学生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54456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学习 / 工作压力大，忽视身体信号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4078224"/>
            <a:ext cx="338328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4206240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0222B"/>
                </a:solidFill>
                <a:latin typeface="Microsoft YaHei"/>
              </a:rPr>
              <a:t>高压人群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54456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难以顾及自己的身体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30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4A5B64"/>
                </a:solidFill>
                <a:latin typeface="Microsoft YaHei"/>
              </a:rPr>
              <a:t>从异常到就医，一条连续的线索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541264"/>
            <a:ext cx="326136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身体出现异常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84320" y="5541264"/>
            <a:ext cx="365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0080" y="5541264"/>
            <a:ext cx="326136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决定是否就医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1440" y="5541264"/>
            <a:ext cx="365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7199" y="5541264"/>
            <a:ext cx="326136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真正见到医生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项目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核心功能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两大核心功能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51206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2514600"/>
            <a:ext cx="566928" cy="56692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D6B5C"/>
                </a:solidFill>
                <a:latin typeface="Microsoft YaHe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9184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222B"/>
                </a:solidFill>
                <a:latin typeface="Microsoft YaHei"/>
              </a:rPr>
              <a:t>Continuous Self-Triage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86200"/>
            <a:ext cx="4480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A5B64"/>
                </a:solidFill>
                <a:latin typeface="Microsoft YaHei"/>
              </a:rPr>
              <a:t>建立 Health Episode，根据症状随时间的变化，持续重新评估下一步行动。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48840"/>
            <a:ext cx="51206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29400" y="2514600"/>
            <a:ext cx="566928" cy="56692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D6B5C"/>
                </a:solidFill>
                <a:latin typeface="Microsoft YaHei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29184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222B"/>
                </a:solidFill>
                <a:latin typeface="Microsoft YaHei"/>
              </a:rPr>
              <a:t>Doctor Handoff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886200"/>
            <a:ext cx="4480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A5B64"/>
                </a:solidFill>
                <a:latin typeface="Microsoft YaHei"/>
              </a:rPr>
              <a:t>真正需要专业医疗时，将 Episode 自动整理为结构化就医摘要。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项目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01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为什么需要它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Microsoft YaHei"/>
              </a:rPr>
              <a:t>用户真正困惑的，往往不是「这是什么病」，而是：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88920"/>
            <a:ext cx="82296" cy="56692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Microsoft YaHei"/>
              </a:rPr>
              <a:t>我现在该怎么办？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502152"/>
            <a:ext cx="82296" cy="56692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502152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Microsoft YaHei"/>
              </a:rPr>
              <a:t>需要去医院吗？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215383"/>
            <a:ext cx="82296" cy="56692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215383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Microsoft YaHei"/>
              </a:rPr>
              <a:t>什么时候不能再等？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057400"/>
            <a:ext cx="52120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222B"/>
                </a:solidFill>
                <a:latin typeface="Microsoft YaHei"/>
              </a:rPr>
              <a:t>现有体验是割裂的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01752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0222B"/>
                </a:solidFill>
                <a:latin typeface="Microsoft YaHei"/>
              </a:rPr>
              <a:t>搜索 / AI 问答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Microsoft YaHei"/>
              </a:rPr>
              <a:t>一次性的，答完即走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88620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0222B"/>
                </a:solidFill>
                <a:latin typeface="Microsoft YaHei"/>
              </a:rPr>
              <a:t>健康数据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Microsoft YaHei"/>
              </a:rPr>
              <a:t>缺少解释，看不懂趋势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754879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0222B"/>
                </a:solidFill>
                <a:latin typeface="Microsoft YaHei"/>
              </a:rPr>
              <a:t>真正就医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Microsoft YaHei"/>
              </a:rPr>
              <a:t>又要从头向医生描述一遍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项目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02 ·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产品具体做什么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148839"/>
            <a:ext cx="457200" cy="457200"/>
          </a:xfrm>
          <a:prstGeom prst="ellipse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A564A"/>
                </a:solidFill>
                <a:latin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2103120"/>
            <a:ext cx="9784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0222B"/>
                </a:solidFill>
                <a:latin typeface="Microsoft YaHei"/>
              </a:rPr>
              <a:t>描述不适 → AI 结构化分诊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505456"/>
            <a:ext cx="9784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B64"/>
                </a:solidFill>
                <a:latin typeface="Microsoft YaHei"/>
              </a:rPr>
              <a:t>补齐症状、程度、时长，筛查危险信号，给出「继续观察 / 密切观察 / 建议咨询 / 尽快就医」四层建议。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282696"/>
            <a:ext cx="457200" cy="457200"/>
          </a:xfrm>
          <a:prstGeom prst="ellipse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A564A"/>
                </a:solidFill>
                <a:latin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3236976"/>
            <a:ext cx="9784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0222B"/>
                </a:solidFill>
                <a:latin typeface="Microsoft YaHei"/>
              </a:rPr>
              <a:t>建立 Health Episode → 持续追踪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3639312"/>
            <a:ext cx="9784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B64"/>
                </a:solidFill>
                <a:latin typeface="Microsoft YaHei"/>
              </a:rPr>
              <a:t>每次打卡更新一条症状曲线，随时间重新评估下一步行动，而不是每次从零回答。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416552"/>
            <a:ext cx="457200" cy="457200"/>
          </a:xfrm>
          <a:prstGeom prst="ellipse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A564A"/>
                </a:solidFill>
                <a:latin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4370832"/>
            <a:ext cx="9784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0222B"/>
                </a:solidFill>
                <a:latin typeface="Microsoft YaHei"/>
              </a:rPr>
              <a:t>需要就医时 → Doctor Handoff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4773168"/>
            <a:ext cx="9784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B64"/>
                </a:solidFill>
                <a:latin typeface="Microsoft YaHei"/>
              </a:rPr>
              <a:t>一键生成结构化就医摘要：主诉 / 现病史 / 症状趋势 / 已排查危险信号。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596128"/>
            <a:ext cx="10515600" cy="603504"/>
          </a:xfrm>
          <a:prstGeom prst="roundRect">
            <a:avLst>
              <a:gd name="adj" fmla="val 35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596128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D6B5C"/>
                </a:solidFill>
                <a:latin typeface="Microsoft YaHei"/>
              </a:rPr>
              <a:t>核心不是替代医生诊断，而是把一次 Health Episode 从头管到尾。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项目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03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核心用户流程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A5B64"/>
                </a:solidFill>
                <a:latin typeface="Microsoft YaHei"/>
              </a:rPr>
              <a:t>身体不舒服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240279"/>
            <a:ext cx="457200" cy="457200"/>
          </a:xfrm>
          <a:prstGeom prst="ellipse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A564A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212848"/>
            <a:ext cx="9784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AI Self-Triage</a:t>
            </a:r>
            <a:r>
              <a:rPr sz="1550" b="1">
                <a:solidFill>
                  <a:srgbClr val="0D6B5C"/>
                </a:solidFill>
                <a:latin typeface="Microsoft YaHei"/>
              </a:rPr>
              <a:t>   AI 结构化分诊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252374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B64"/>
                </a:solidFill>
                <a:latin typeface="Microsoft YaHei"/>
              </a:rPr>
              <a:t>结构化了解症状与背景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953512"/>
            <a:ext cx="457200" cy="457200"/>
          </a:xfrm>
          <a:prstGeom prst="ellipse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A564A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926080"/>
            <a:ext cx="9784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Health Episode</a:t>
            </a:r>
            <a:r>
              <a:rPr sz="1550" b="1">
                <a:solidFill>
                  <a:srgbClr val="0D6B5C"/>
                </a:solidFill>
                <a:latin typeface="Microsoft YaHei"/>
              </a:rPr>
              <a:t>   健康事件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3236976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B64"/>
                </a:solidFill>
                <a:latin typeface="Microsoft YaHei"/>
              </a:rPr>
              <a:t>自动建立健康事件并持续记录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666744"/>
            <a:ext cx="457200" cy="457200"/>
          </a:xfrm>
          <a:prstGeom prst="ellipse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A564A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639312"/>
            <a:ext cx="9784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Continuous Follow-up</a:t>
            </a:r>
            <a:r>
              <a:rPr sz="1550" b="1">
                <a:solidFill>
                  <a:srgbClr val="0D6B5C"/>
                </a:solidFill>
                <a:latin typeface="Microsoft YaHei"/>
              </a:rPr>
              <a:t>   持续追踪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950208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B64"/>
                </a:solidFill>
                <a:latin typeface="Microsoft YaHei"/>
              </a:rPr>
              <a:t>追踪症状变化并重新评估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379976"/>
            <a:ext cx="457200" cy="457200"/>
          </a:xfrm>
          <a:prstGeom prst="ellipse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A564A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4352544"/>
            <a:ext cx="9784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Next-step Navigation</a:t>
            </a:r>
            <a:r>
              <a:rPr sz="1550" b="1">
                <a:solidFill>
                  <a:srgbClr val="0D6B5C"/>
                </a:solidFill>
                <a:latin typeface="Microsoft YaHei"/>
              </a:rPr>
              <a:t>   下一步导航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4663440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B64"/>
                </a:solidFill>
                <a:latin typeface="Microsoft YaHei"/>
              </a:rPr>
              <a:t>继续观察 / 寻求专业医疗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093208"/>
            <a:ext cx="457200" cy="457200"/>
          </a:xfrm>
          <a:prstGeom prst="ellipse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A564A"/>
                </a:solidFill>
                <a:latin typeface="Microsoft YaHe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5065776"/>
            <a:ext cx="9784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Doctor Handoff</a:t>
            </a:r>
            <a:r>
              <a:rPr sz="1550" b="1">
                <a:solidFill>
                  <a:srgbClr val="0D6B5C"/>
                </a:solidFill>
                <a:latin typeface="Microsoft YaHei"/>
              </a:rPr>
              <a:t>   就医摘要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5376672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B64"/>
                </a:solidFill>
                <a:latin typeface="Microsoft YaHei"/>
              </a:rPr>
              <a:t>生成结构化就医摘要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742432"/>
            <a:ext cx="10515600" cy="5669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742432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0222B"/>
                </a:solidFill>
                <a:latin typeface="Microsoft YaHei"/>
              </a:rPr>
              <a:t>现场重点演示三个页面：</a:t>
            </a:r>
            <a:r>
              <a:rPr sz="1350" b="1">
                <a:solidFill>
                  <a:srgbClr val="0D6B5C"/>
                </a:solidFill>
                <a:latin typeface="Microsoft YaHei"/>
              </a:rPr>
              <a:t>首次分诊 → Episode 时间线 → Doctor Handoff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项目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03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现场预览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35527" y="1938528"/>
            <a:ext cx="5120640" cy="4041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mo-reel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827" y="2002536"/>
            <a:ext cx="4892040" cy="39136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126480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A5B64"/>
                </a:solidFill>
                <a:latin typeface="Microsoft YaHei"/>
              </a:rPr>
              <a:t>现场演示（自动播放）</a:t>
            </a:r>
            <a:r>
              <a:rPr sz="1300" b="1">
                <a:solidFill>
                  <a:srgbClr val="0D6B5C"/>
                </a:solidFill>
                <a:latin typeface="Microsoft YaHei"/>
              </a:rPr>
              <a:t>   首次分诊 → Episode 时间线 → Doctor Handoff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项目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04 · WHY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为什么以前难做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846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222B"/>
                </a:solidFill>
                <a:latin typeface="Microsoft YaHei"/>
              </a:rPr>
              <a:t>AI 的价值不只是聊天，而是把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6B5C"/>
                </a:solidFill>
                <a:latin typeface="Microsoft YaHei"/>
              </a:rPr>
              <a:t>多轮自然语言</a:t>
            </a:r>
            <a:r>
              <a:rPr sz="1700" b="0">
                <a:solidFill>
                  <a:srgbClr val="10222B"/>
                </a:solidFill>
                <a:latin typeface="Microsoft YaHei"/>
              </a:rPr>
              <a:t>、</a:t>
            </a:r>
            <a:r>
              <a:rPr sz="1700" b="1">
                <a:solidFill>
                  <a:srgbClr val="0D6B5C"/>
                </a:solidFill>
                <a:latin typeface="Microsoft YaHei"/>
              </a:rPr>
              <a:t>症状变化</a:t>
            </a:r>
            <a:r>
              <a:rPr sz="1700" b="0">
                <a:solidFill>
                  <a:srgbClr val="10222B"/>
                </a:solidFill>
                <a:latin typeface="Microsoft YaHei"/>
              </a:rPr>
              <a:t>和</a:t>
            </a:r>
            <a:r>
              <a:rPr sz="1700" b="1">
                <a:solidFill>
                  <a:srgbClr val="0D6B5C"/>
                </a:solidFill>
                <a:latin typeface="Microsoft YaHei"/>
              </a:rPr>
              <a:t>个人背景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222B"/>
                </a:solidFill>
                <a:latin typeface="Microsoft YaHei"/>
              </a:rPr>
              <a:t>转化成持续更新的健康状态，而不是每次从零回答问题。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1488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B897"/>
                </a:solidFill>
                <a:latin typeface="Microsoft YaHei"/>
              </a:rPr>
              <a:t>技术核心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487168"/>
            <a:ext cx="5029200" cy="1051560"/>
          </a:xfrm>
          <a:prstGeom prst="roundRect">
            <a:avLst>
              <a:gd name="adj" fmla="val 14000"/>
            </a:avLst>
          </a:prstGeom>
          <a:solidFill>
            <a:srgbClr val="0D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Longitudinal Health Reasoning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7033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0222B"/>
                </a:solidFill>
                <a:latin typeface="Microsoft YaHei"/>
              </a:rPr>
              <a:t>多轮 NL · 症状变化 · 个人背景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D6B5C"/>
                </a:solidFill>
                <a:latin typeface="Microsoft YaHei"/>
              </a:rPr>
              <a:t>→ 持续更新的健康状态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项目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05 ·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未来核心竞争力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251460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2860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D6B5C"/>
                </a:solidFill>
                <a:latin typeface="Microsoft YaHei"/>
              </a:rPr>
              <a:t>Health Episode 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每一次健康事件的完整纵向记录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2103120"/>
            <a:ext cx="251460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22860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D6B5C"/>
                </a:solidFill>
                <a:latin typeface="Microsoft YaHei"/>
              </a:rPr>
              <a:t>经验证的分诊系统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4176" y="306324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可追溯、可验证的分层建议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2103120"/>
            <a:ext cx="251460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22860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D6B5C"/>
                </a:solidFill>
                <a:latin typeface="Microsoft YaHei"/>
              </a:rPr>
              <a:t>Personal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306324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了解「我的正常状态」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3104" y="2103120"/>
            <a:ext cx="251460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22860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D6B5C"/>
                </a:solidFill>
                <a:latin typeface="Microsoft YaHei"/>
              </a:rPr>
              <a:t>医疗服务连接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2" y="306324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从导航到就医的无缝交接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222B"/>
                </a:solidFill>
                <a:latin typeface="Microsoft YaHei"/>
              </a:rPr>
              <a:t>随着使用积累，从「这次该怎么办」进一步发展到：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663440"/>
            <a:ext cx="2354580" cy="777240"/>
          </a:xfrm>
          <a:prstGeom prst="roundRect">
            <a:avLst>
              <a:gd name="adj" fmla="val 50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了解我的正常状态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7540" y="4663440"/>
            <a:ext cx="365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3300" y="4663440"/>
            <a:ext cx="2354580" cy="777240"/>
          </a:xfrm>
          <a:prstGeom prst="roundRect">
            <a:avLst>
              <a:gd name="adj" fmla="val 50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发现异常变化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4663440"/>
            <a:ext cx="365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663440"/>
            <a:ext cx="2354580" cy="777240"/>
          </a:xfrm>
          <a:prstGeom prst="roundRect">
            <a:avLst>
              <a:gd name="adj" fmla="val 50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主动健康提醒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8220" y="4663440"/>
            <a:ext cx="365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3980" y="4663440"/>
            <a:ext cx="2354580" cy="777240"/>
          </a:xfrm>
          <a:prstGeom prst="roundRect">
            <a:avLst>
              <a:gd name="adj" fmla="val 50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连续健康管理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项目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06 ·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商业模式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38328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4203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D6B5C"/>
                </a:solidFill>
                <a:latin typeface="Microsoft YaHei"/>
              </a:rPr>
              <a:t>Consumer · 消费者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222B"/>
                </a:solidFill>
                <a:latin typeface="Microsoft YaHei"/>
              </a:rPr>
              <a:t>免费分诊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A5B64"/>
                </a:solidFill>
                <a:latin typeface="Microsoft YaHei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690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B897"/>
                </a:solidFill>
                <a:latin typeface="Microsoft YaHei"/>
              </a:rPr>
              <a:t>高级持续健康管理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86000"/>
            <a:ext cx="338328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54203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D6B5C"/>
                </a:solidFill>
                <a:latin typeface="Microsoft YaHei"/>
              </a:rPr>
              <a:t>Healthcare · 医疗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004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222B"/>
                </a:solidFill>
                <a:latin typeface="Microsoft YaHei"/>
              </a:rPr>
              <a:t>患者导航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576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A5B64"/>
                </a:solidFill>
                <a:latin typeface="Microsoft YaHei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0690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B897"/>
                </a:solidFill>
                <a:latin typeface="Microsoft YaHei"/>
              </a:rPr>
              <a:t>临床接诊 SaaS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286000"/>
            <a:ext cx="338328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54203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D6B5C"/>
                </a:solidFill>
                <a:latin typeface="Microsoft YaHei"/>
              </a:rPr>
              <a:t>Long-term · 长期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429000"/>
            <a:ext cx="28346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0222B"/>
                </a:solidFill>
                <a:latin typeface="Microsoft YaHei"/>
              </a:rPr>
              <a:t>企业 / 保险健康导航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Microsoft YaHei"/>
              </a:rPr>
              <a:t>从免费导航切入，逐步向持续健康管理、临床 SaaS 与保险健康导航延伸。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项目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6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4688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We don't replace the doctor.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611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B897"/>
                </a:solidFill>
                <a:latin typeface="Microsoft YaHei"/>
              </a:rPr>
              <a:t>We manage the journey before you see 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96112" y="4617720"/>
            <a:ext cx="1463040" cy="4114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892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8E4DA"/>
                </a:solidFill>
                <a:latin typeface="Microsoft YaHei"/>
              </a:rPr>
              <a:t>AI Health Navigator · 概念 Demo（虚构数据，不替代专业医疗建议）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