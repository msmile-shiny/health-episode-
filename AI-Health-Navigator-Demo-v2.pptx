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91440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564A"/>
                </a:solidFill>
                <a:latin typeface="微软雅黑" panose="020B0503020204020204" charset="-122"/>
              </a:rPr>
              <a:t>E</a:t>
            </a:r>
            <a:endParaRPr sz="28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91640" y="106070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B897"/>
                </a:solidFill>
                <a:latin typeface="微软雅黑" panose="020B0503020204020204" charset="-122"/>
              </a:rPr>
              <a:t>AI HEALTH NAVIGATOR · 项目 DEMO</a:t>
            </a:r>
            <a:endParaRPr sz="1400" b="1">
              <a:solidFill>
                <a:srgbClr val="17B89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5985" y="3347085"/>
            <a:ext cx="10515600" cy="1158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从身体出现异常，到见到医生的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连续健康导航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162809"/>
            <a:ext cx="10515600" cy="830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B8E4DA"/>
                </a:solidFill>
                <a:latin typeface="微软雅黑" panose="020B0503020204020204" charset="-122"/>
              </a:rPr>
              <a:t>Health Episode</a:t>
            </a:r>
            <a:endParaRPr sz="5400" b="0">
              <a:solidFill>
                <a:srgbClr val="B8E4D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6112" y="5074920"/>
            <a:ext cx="1463040" cy="4114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</a:rPr>
              <a:t>We don't replace the doctor.</a:t>
            </a:r>
            <a:endParaRPr sz="21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B897"/>
                </a:solidFill>
                <a:latin typeface="微软雅黑" panose="020B0503020204020204" charset="-122"/>
              </a:rPr>
              <a:t>We manage the journey before you see one.</a:t>
            </a:r>
            <a:endParaRPr sz="1500" b="0">
              <a:solidFill>
                <a:srgbClr val="17B89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产品定位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连续健康导航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222B"/>
                </a:solidFill>
                <a:latin typeface="微软雅黑" panose="020B0503020204020204" charset="-122"/>
              </a:rPr>
              <a:t>AI Health Navigator —— 从身体出现异常，到决定是否就医，再到真正见到医生的连续健康导航。</a:t>
            </a:r>
            <a:endParaRPr sz="19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1234440"/>
          </a:xfrm>
          <a:prstGeom prst="roundRect">
            <a:avLst>
              <a:gd name="adj" fmla="val 14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9067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6B5C"/>
                </a:solidFill>
                <a:latin typeface="微软雅黑" panose="020B0503020204020204" charset="-122"/>
              </a:rPr>
              <a:t>核心场景</a:t>
            </a:r>
            <a:endParaRPr sz="12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3419856"/>
            <a:ext cx="9875520" cy="322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22B"/>
                </a:solidFill>
                <a:latin typeface="微软雅黑" panose="020B0503020204020204" charset="-122"/>
                <a:sym typeface="+mn-ea"/>
              </a:rPr>
              <a:t>“我有点不舒服，但不知道现在</a:t>
            </a:r>
            <a:r>
              <a:rPr lang="zh-CN" sz="2100" b="1">
                <a:solidFill>
                  <a:srgbClr val="10222B"/>
                </a:solidFill>
                <a:latin typeface="微软雅黑" panose="020B0503020204020204" charset="-122"/>
                <a:sym typeface="+mn-ea"/>
              </a:rPr>
              <a:t>是否应该就医</a:t>
            </a:r>
            <a:r>
              <a:rPr lang="en-US" altLang="zh-CN" sz="2100" b="1">
                <a:solidFill>
                  <a:srgbClr val="10222B"/>
                </a:solidFill>
                <a:latin typeface="微软雅黑" panose="020B0503020204020204" charset="-122"/>
                <a:sym typeface="+mn-ea"/>
              </a:rPr>
              <a:t>/</a:t>
            </a:r>
            <a:r>
              <a:rPr lang="zh-CN" altLang="en-US" sz="2100" b="1">
                <a:solidFill>
                  <a:srgbClr val="10222B"/>
                </a:solidFill>
                <a:latin typeface="微软雅黑" panose="020B0503020204020204" charset="-122"/>
                <a:sym typeface="+mn-ea"/>
              </a:rPr>
              <a:t>不知道自己如何处理</a:t>
            </a:r>
            <a:r>
              <a:rPr sz="2100" b="1">
                <a:solidFill>
                  <a:srgbClr val="10222B"/>
                </a:solidFill>
                <a:latin typeface="微软雅黑" panose="020B0503020204020204" charset="-122"/>
                <a:sym typeface="+mn-ea"/>
              </a:rPr>
              <a:t>。”</a:t>
            </a:r>
            <a:endParaRPr sz="2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5B64"/>
                </a:solidFill>
                <a:latin typeface="微软雅黑" panose="020B0503020204020204" charset="-122"/>
              </a:rPr>
              <a:t>从异常到就医，一条连续的线索</a:t>
            </a:r>
            <a:endParaRPr sz="13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4846320"/>
            <a:ext cx="32613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D6B5C"/>
                </a:solidFill>
                <a:latin typeface="微软雅黑" panose="020B0503020204020204" charset="-122"/>
              </a:rPr>
              <a:t>身体出现异常</a:t>
            </a:r>
            <a:endParaRPr sz="16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84320" y="4846320"/>
            <a:ext cx="365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50080" y="4846320"/>
            <a:ext cx="32613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D6B5C"/>
                </a:solidFill>
                <a:latin typeface="微软雅黑" panose="020B0503020204020204" charset="-122"/>
              </a:rPr>
              <a:t>决定是否就医</a:t>
            </a:r>
            <a:endParaRPr sz="16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11440" y="4846320"/>
            <a:ext cx="365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77199" y="4846320"/>
            <a:ext cx="32613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D6B5C"/>
                </a:solidFill>
                <a:latin typeface="微软雅黑" panose="020B0503020204020204" charset="-122"/>
              </a:rPr>
              <a:t>真正见到医生</a:t>
            </a:r>
            <a:endParaRPr sz="16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核心功能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两大核心功能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822960" y="2148840"/>
            <a:ext cx="51206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>
            <p:custDataLst>
              <p:tags r:id="rId2"/>
            </p:custDataLst>
          </p:nvPr>
        </p:nvSpPr>
        <p:spPr>
          <a:xfrm>
            <a:off x="1188720" y="2514600"/>
            <a:ext cx="566928" cy="56692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6B5C"/>
                </a:solidFill>
                <a:latin typeface="微软雅黑" panose="020B0503020204020204" charset="-122"/>
              </a:rPr>
              <a:t>①</a:t>
            </a:r>
            <a:endParaRPr sz="18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01395" y="3282950"/>
            <a:ext cx="4916805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222B"/>
                </a:solidFill>
                <a:latin typeface="微软雅黑" panose="020B0503020204020204" charset="-122"/>
              </a:rPr>
              <a:t>Continuous Self-Triage</a:t>
            </a:r>
            <a:r>
              <a:rPr lang="zh-CN" sz="1900" b="1">
                <a:solidFill>
                  <a:srgbClr val="10222B"/>
                </a:solidFill>
                <a:latin typeface="微软雅黑" panose="020B0503020204020204" charset="-122"/>
                <a:sym typeface="+mn-ea"/>
              </a:rPr>
              <a:t>持续</a:t>
            </a:r>
            <a:r>
              <a:rPr lang="zh-CN" sz="1900" b="1">
                <a:solidFill>
                  <a:srgbClr val="10222B"/>
                </a:solidFill>
                <a:latin typeface="微软雅黑" panose="020B0503020204020204" charset="-122"/>
                <a:sym typeface="+mn-ea"/>
              </a:rPr>
              <a:t>评估用户状态</a:t>
            </a:r>
            <a:endParaRPr lang="zh-CN" sz="1900" b="1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9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188720" y="388620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B64"/>
                </a:solidFill>
                <a:latin typeface="微软雅黑" panose="020B0503020204020204" charset="-122"/>
              </a:rPr>
              <a:t>建立 Health Episode，根据症状随时间的变化，持续重新评估下一步行动。</a:t>
            </a:r>
            <a:endParaRPr sz="14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6263640" y="2148840"/>
            <a:ext cx="51206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6"/>
            </p:custDataLst>
          </p:nvPr>
        </p:nvSpPr>
        <p:spPr>
          <a:xfrm>
            <a:off x="6629400" y="2514600"/>
            <a:ext cx="566928" cy="56692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6B5C"/>
                </a:solidFill>
                <a:latin typeface="微软雅黑" panose="020B0503020204020204" charset="-122"/>
              </a:rPr>
              <a:t>②</a:t>
            </a:r>
            <a:endParaRPr sz="18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6629400" y="3291840"/>
            <a:ext cx="448056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222B"/>
                </a:solidFill>
                <a:latin typeface="微软雅黑" panose="020B0503020204020204" charset="-122"/>
              </a:rPr>
              <a:t>Doctor Handoff</a:t>
            </a:r>
            <a:r>
              <a:rPr lang="zh-CN" sz="1900" b="1">
                <a:solidFill>
                  <a:srgbClr val="10222B"/>
                </a:solidFill>
                <a:latin typeface="微软雅黑" panose="020B0503020204020204" charset="-122"/>
              </a:rPr>
              <a:t>就医时</a:t>
            </a:r>
            <a:r>
              <a:rPr lang="zh-CN" sz="1900" b="1">
                <a:solidFill>
                  <a:srgbClr val="10222B"/>
                </a:solidFill>
                <a:latin typeface="微软雅黑" panose="020B0503020204020204" charset="-122"/>
                <a:sym typeface="+mn-ea"/>
              </a:rPr>
              <a:t>形成结构化摘要</a:t>
            </a:r>
            <a:endParaRPr sz="19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629400" y="388620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B64"/>
                </a:solidFill>
                <a:latin typeface="微软雅黑" panose="020B0503020204020204" charset="-122"/>
              </a:rPr>
              <a:t>真正需要专业医疗时，将 Episode 自动整理为结构化就医摘要。</a:t>
            </a:r>
            <a:endParaRPr sz="14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01 · PROBLEM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为什么需要它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846320" cy="313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0222B"/>
                </a:solidFill>
                <a:latin typeface="微软雅黑" panose="020B0503020204020204" charset="-122"/>
              </a:rPr>
              <a:t>网络上向网友提出的高频</a:t>
            </a:r>
            <a:r>
              <a:rPr lang="zh-CN" sz="1700" b="1">
                <a:solidFill>
                  <a:srgbClr val="10222B"/>
                </a:solidFill>
                <a:latin typeface="微软雅黑" panose="020B0503020204020204" charset="-122"/>
              </a:rPr>
              <a:t>问题：</a:t>
            </a:r>
            <a:endParaRPr lang="zh-CN" sz="17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我现在该怎么办？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3502152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502152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需要去医院吗？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4215383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15383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什么时候不能再等？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微软雅黑" panose="020B0503020204020204" charset="-122"/>
              </a:rPr>
              <a:t>现有体验是割裂的</a:t>
            </a:r>
            <a:endParaRPr sz="16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0222B"/>
                </a:solidFill>
                <a:latin typeface="微软雅黑" panose="020B0503020204020204" charset="-122"/>
              </a:rPr>
              <a:t>搜索 / AI 问答</a:t>
            </a:r>
            <a:endParaRPr sz="1500" b="1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微软雅黑" panose="020B0503020204020204" charset="-122"/>
              </a:rPr>
              <a:t>一次性的，答完即走</a:t>
            </a:r>
            <a:endParaRPr sz="13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0222B"/>
                </a:solidFill>
                <a:latin typeface="微软雅黑" panose="020B0503020204020204" charset="-122"/>
              </a:rPr>
              <a:t>健康数据</a:t>
            </a:r>
            <a:endParaRPr sz="1500" b="1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微软雅黑" panose="020B0503020204020204" charset="-122"/>
              </a:rPr>
              <a:t>缺少解释，看不懂趋势</a:t>
            </a:r>
            <a:endParaRPr sz="13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4754879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0222B"/>
                </a:solidFill>
                <a:latin typeface="微软雅黑" panose="020B0503020204020204" charset="-122"/>
              </a:rPr>
              <a:t>真正就医</a:t>
            </a:r>
            <a:endParaRPr sz="1500" b="1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微软雅黑" panose="020B0503020204020204" charset="-122"/>
              </a:rPr>
              <a:t>又要从头向医生描述一遍</a:t>
            </a:r>
            <a:endParaRPr sz="13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4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02 · SOLUTION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我们做什么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22B"/>
                </a:solidFill>
                <a:latin typeface="微软雅黑" panose="020B0503020204020204" charset="-122"/>
              </a:rPr>
              <a:t>AI Health Navigator：从身体出现异常，到决定是否就医，再到真正见到医生的连续健康导航。</a:t>
            </a:r>
            <a:endParaRPr sz="2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3520440"/>
            <a:ext cx="10515600" cy="13716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767328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核心不是替代医生诊断，而是管理一次完整的 Health Episode。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微软雅黑" panose="020B0503020204020204" charset="-122"/>
              </a:rPr>
              <a:t>把「这一次不舒服」变成一条有始有终、可持续更新的健康事件。</a:t>
            </a:r>
            <a:endParaRPr sz="14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5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03 · DEMO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核心用户流程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5B64"/>
                </a:solidFill>
                <a:latin typeface="微软雅黑" panose="020B0503020204020204" charset="-122"/>
              </a:rPr>
              <a:t>身体不舒服</a:t>
            </a:r>
            <a:endParaRPr sz="13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822960" y="2240279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微软雅黑" panose="020B0503020204020204" charset="-122"/>
              </a:rPr>
              <a:t>1</a:t>
            </a:r>
            <a:endParaRPr sz="15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1328" y="2212848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AI Self-Triage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1328" y="2523744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微软雅黑" panose="020B0503020204020204" charset="-122"/>
              </a:rPr>
              <a:t>结构化了解症状与背景</a:t>
            </a:r>
            <a:endParaRPr sz="12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22960" y="2953512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微软雅黑" panose="020B0503020204020204" charset="-122"/>
              </a:rPr>
              <a:t>2</a:t>
            </a:r>
            <a:endParaRPr sz="15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1328" y="292608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Health Episode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1328" y="3236976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微软雅黑" panose="020B0503020204020204" charset="-122"/>
              </a:rPr>
              <a:t>自动建立健康事件并持续记录</a:t>
            </a:r>
            <a:endParaRPr sz="12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2960" y="3666744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微软雅黑" panose="020B0503020204020204" charset="-122"/>
              </a:rPr>
              <a:t>3</a:t>
            </a:r>
            <a:endParaRPr sz="15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81328" y="3639312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Continuous Follow-up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81328" y="3950208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微软雅黑" panose="020B0503020204020204" charset="-122"/>
              </a:rPr>
              <a:t>追踪症状变化并重新评估</a:t>
            </a:r>
            <a:endParaRPr sz="12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4379976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微软雅黑" panose="020B0503020204020204" charset="-122"/>
              </a:rPr>
              <a:t>4</a:t>
            </a:r>
            <a:endParaRPr sz="15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81328" y="4352544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Next-step Navigation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81328" y="4663440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微软雅黑" panose="020B0503020204020204" charset="-122"/>
              </a:rPr>
              <a:t>继续观察 / 寻求专业医疗</a:t>
            </a:r>
            <a:endParaRPr sz="12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22960" y="5093208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微软雅黑" panose="020B0503020204020204" charset="-122"/>
              </a:rPr>
              <a:t>5</a:t>
            </a:r>
            <a:endParaRPr sz="15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81328" y="5065776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Doctor Handoff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81328" y="5376672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微软雅黑" panose="020B0503020204020204" charset="-122"/>
              </a:rPr>
              <a:t>生成结构化就医摘要</a:t>
            </a:r>
            <a:endParaRPr sz="12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2960" y="5742432"/>
            <a:ext cx="10515600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742432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2B"/>
                </a:solidFill>
                <a:latin typeface="微软雅黑" panose="020B0503020204020204" charset="-122"/>
              </a:rPr>
              <a:t>现场重点演示三个页面：</a:t>
            </a: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首次分诊 → Episode 时间线 → Doctor Handoff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6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03 · DEMO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现场预览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535527" y="1938528"/>
            <a:ext cx="5120640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mo-reel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9827" y="2002536"/>
            <a:ext cx="4892040" cy="39136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2648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5B64"/>
                </a:solidFill>
                <a:latin typeface="微软雅黑" panose="020B0503020204020204" charset="-122"/>
              </a:rPr>
              <a:t>现场演示（自动播放）</a:t>
            </a: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   首次分诊 → Episode 时间线 → Doctor Handoff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7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04 · WHY AI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为什么以前难做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222B"/>
                </a:solidFill>
                <a:latin typeface="微软雅黑" panose="020B0503020204020204" charset="-122"/>
              </a:rPr>
              <a:t>AI 的价值不只是聊天，而是把</a:t>
            </a:r>
            <a:endParaRPr sz="1700" b="0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微软雅黑" panose="020B0503020204020204" charset="-122"/>
              </a:rPr>
              <a:t>多轮自然语言</a:t>
            </a:r>
            <a:r>
              <a:rPr sz="1700" b="0">
                <a:solidFill>
                  <a:srgbClr val="10222B"/>
                </a:solidFill>
                <a:latin typeface="微软雅黑" panose="020B0503020204020204" charset="-122"/>
              </a:rPr>
              <a:t>、</a:t>
            </a:r>
            <a:r>
              <a:rPr sz="1700" b="1">
                <a:solidFill>
                  <a:srgbClr val="0D6B5C"/>
                </a:solidFill>
                <a:latin typeface="微软雅黑" panose="020B0503020204020204" charset="-122"/>
              </a:rPr>
              <a:t>症状变化</a:t>
            </a:r>
            <a:r>
              <a:rPr sz="1700" b="0">
                <a:solidFill>
                  <a:srgbClr val="10222B"/>
                </a:solidFill>
                <a:latin typeface="微软雅黑" panose="020B0503020204020204" charset="-122"/>
              </a:rPr>
              <a:t>和</a:t>
            </a:r>
            <a:r>
              <a:rPr sz="1700" b="1">
                <a:solidFill>
                  <a:srgbClr val="0D6B5C"/>
                </a:solidFill>
                <a:latin typeface="微软雅黑" panose="020B0503020204020204" charset="-122"/>
              </a:rPr>
              <a:t>个人背景</a:t>
            </a:r>
            <a:endParaRPr sz="1700" b="1">
              <a:solidFill>
                <a:srgbClr val="0D6B5C"/>
              </a:solidFill>
              <a:latin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222B"/>
                </a:solidFill>
                <a:latin typeface="微软雅黑" panose="020B0503020204020204" charset="-122"/>
              </a:rPr>
              <a:t>转化成持续更新的健康状态，而不是每次从零回答问题。</a:t>
            </a:r>
            <a:endParaRPr sz="1700" b="0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09360" y="21488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B897"/>
                </a:solidFill>
                <a:latin typeface="微软雅黑" panose="020B0503020204020204" charset="-122"/>
              </a:rPr>
              <a:t>技术核心</a:t>
            </a:r>
            <a:endParaRPr sz="1250" b="1">
              <a:solidFill>
                <a:srgbClr val="17B897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2487168"/>
            <a:ext cx="5029200" cy="1051560"/>
          </a:xfrm>
          <a:prstGeom prst="roundRect">
            <a:avLst>
              <a:gd name="adj" fmla="val 14000"/>
            </a:avLst>
          </a:prstGeom>
          <a:solidFill>
            <a:srgbClr val="0D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</a:rPr>
              <a:t>Longitudinal Health Reasoning</a:t>
            </a:r>
            <a:endParaRPr sz="2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360" y="37033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0222B"/>
                </a:solidFill>
                <a:latin typeface="微软雅黑" panose="020B0503020204020204" charset="-122"/>
              </a:rPr>
              <a:t>多轮 NL · 症状变化 · 个人背景</a:t>
            </a:r>
            <a:endParaRPr sz="1350" b="1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→ 持续更新的健康状态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8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05 · MOAT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未来核心竞争力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860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Health Episode 数据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每一次健康事件的完整纵向记录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93008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2860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经验证的分诊系统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94176" y="30632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可追溯、可验证的分层建议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63056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2860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Personal Baseline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4224" y="30632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了解「我的正常状态」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833104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2860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医疗服务连接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34272" y="30632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从导航到就医的无缝交接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微软雅黑" panose="020B0503020204020204" charset="-122"/>
              </a:rPr>
              <a:t>随着使用积累，从「这次该怎么办」进一步发展到：</a:t>
            </a:r>
            <a:endParaRPr sz="14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了解我的正常状态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540" y="4663440"/>
            <a:ext cx="365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4330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发现异常变化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97880" y="4663440"/>
            <a:ext cx="365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6364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主动健康提醒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18220" y="4663440"/>
            <a:ext cx="365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98398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连续健康管理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9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4688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We don't replace the doctor.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3611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B897"/>
                </a:solidFill>
                <a:latin typeface="微软雅黑" panose="020B0503020204020204" charset="-122"/>
              </a:rPr>
              <a:t>We manage the journey before you see one.</a:t>
            </a:r>
            <a:endParaRPr sz="2200" b="0">
              <a:solidFill>
                <a:srgbClr val="17B897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96112" y="4617720"/>
            <a:ext cx="1463040" cy="4114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892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E4DA"/>
                </a:solidFill>
                <a:latin typeface="微软雅黑" panose="020B0503020204020204" charset="-122"/>
              </a:rPr>
              <a:t>AI Health Navigator · 概念 Demo（虚构数据，不替代专业医疗建议）</a:t>
            </a:r>
            <a:endParaRPr sz="1300" b="0">
              <a:solidFill>
                <a:srgbClr val="B8E4D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2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3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4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5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6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7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8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1579</Words>
  <Application>WPS 演示</Application>
  <PresentationFormat>On-screen Show (4:3)</PresentationFormat>
  <Paragraphs>217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huifen</cp:lastModifiedBy>
  <cp:revision>4</cp:revision>
  <dcterms:created xsi:type="dcterms:W3CDTF">2013-01-27T09:14:00Z</dcterms:created>
  <dcterms:modified xsi:type="dcterms:W3CDTF">2026-09-29T15:21:39Z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E7C7BDAF00FA4F70BF40FC5EAA377194_12</vt:lpwstr>
  </property>
  <property fmtid="{D5CDD505-2E9C-101B-9397-08002B2CF9AE}" pid="3" name="KSOProductBuildVer">
    <vt:lpwstr>2052-12.1.0.28043</vt:lpwstr>
  </property>
</Properties>
</file>