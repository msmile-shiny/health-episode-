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6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68680" y="914400"/>
            <a:ext cx="658368" cy="658368"/>
          </a:xfrm>
          <a:prstGeom prst="roundRect">
            <a:avLst>
              <a:gd name="adj" fmla="val 30000"/>
            </a:avLst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0A564A"/>
                </a:solidFill>
                <a:latin typeface="微软雅黑" panose="020B0503020204020204" charset="-122"/>
              </a:rPr>
              <a:t>E</a:t>
            </a:r>
            <a:endParaRPr sz="2800" b="1">
              <a:solidFill>
                <a:srgbClr val="0A564A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691640" y="1060704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B897"/>
                </a:solidFill>
                <a:latin typeface="微软雅黑" panose="020B0503020204020204" charset="-122"/>
              </a:rPr>
              <a:t>AI HEALTH NAVIGATOR · 项目 DEMO</a:t>
            </a:r>
            <a:endParaRPr sz="1400" b="1">
              <a:solidFill>
                <a:srgbClr val="17B897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8680" y="192024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微软雅黑" panose="020B0503020204020204" charset="-122"/>
              </a:rPr>
              <a:t>从身体出现异常，到见到医生的</a:t>
            </a:r>
            <a:endParaRPr sz="4000" b="1">
              <a:solidFill>
                <a:srgbClr val="FFFFFF"/>
              </a:solidFill>
              <a:latin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微软雅黑" panose="020B0503020204020204" charset="-122"/>
              </a:rPr>
              <a:t>连续健康导航</a:t>
            </a:r>
            <a:endParaRPr sz="4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3977639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B8E4DA"/>
                </a:solidFill>
                <a:latin typeface="微软雅黑" panose="020B0503020204020204" charset="-122"/>
              </a:rPr>
              <a:t>建立 · 追踪 · 交接 —— 管理一次完整的 Health Episode</a:t>
            </a:r>
            <a:endParaRPr sz="1800" b="0">
              <a:solidFill>
                <a:srgbClr val="B8E4DA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96112" y="5074920"/>
            <a:ext cx="1463040" cy="41148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34924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</a:rPr>
              <a:t>We don't replace the doctor.</a:t>
            </a:r>
            <a:endParaRPr sz="2100" b="1">
              <a:solidFill>
                <a:srgbClr val="FFFFFF"/>
              </a:solidFill>
              <a:latin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17B897"/>
                </a:solidFill>
                <a:latin typeface="微软雅黑" panose="020B0503020204020204" charset="-122"/>
              </a:rPr>
              <a:t>We manage the journey before you see one.</a:t>
            </a:r>
            <a:endParaRPr sz="1500" b="0">
              <a:solidFill>
                <a:srgbClr val="17B897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微软雅黑" panose="020B0503020204020204" charset="-122"/>
              </a:rPr>
              <a:t>产品定位</a:t>
            </a:r>
            <a:endParaRPr sz="13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476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100" b="1">
                <a:solidFill>
                  <a:srgbClr val="10222B"/>
                </a:solidFill>
                <a:latin typeface="微软雅黑" panose="020B0503020204020204" charset="-122"/>
              </a:rPr>
              <a:t>年轻人的</a:t>
            </a:r>
            <a:r>
              <a:rPr sz="3100" b="1">
                <a:solidFill>
                  <a:srgbClr val="10222B"/>
                </a:solidFill>
                <a:latin typeface="微软雅黑" panose="020B0503020204020204" charset="-122"/>
              </a:rPr>
              <a:t>健康导航</a:t>
            </a:r>
            <a:endParaRPr lang="en-US" sz="310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0222B"/>
                </a:solidFill>
                <a:latin typeface="微软雅黑" panose="020B0503020204020204" charset="-122"/>
              </a:rPr>
              <a:t>AI Health Navigator —— 从身体出现异常，到决定是否就医，再到真正见到医生的连续健康导航。</a:t>
            </a:r>
            <a:endParaRPr sz="190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2880360"/>
            <a:ext cx="10515600" cy="1234440"/>
          </a:xfrm>
          <a:prstGeom prst="roundRect">
            <a:avLst>
              <a:gd name="adj" fmla="val 14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3090672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D6B5C"/>
                </a:solidFill>
                <a:latin typeface="微软雅黑" panose="020B0503020204020204" charset="-122"/>
              </a:rPr>
              <a:t>核心场景</a:t>
            </a:r>
            <a:endParaRPr sz="12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88720" y="3419856"/>
            <a:ext cx="9875520" cy="322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0222B"/>
                </a:solidFill>
                <a:latin typeface="微软雅黑" panose="020B0503020204020204" charset="-122"/>
              </a:rPr>
              <a:t>“我有点不舒服，但不知道现在</a:t>
            </a:r>
            <a:r>
              <a:rPr lang="zh-CN" sz="2100" b="1">
                <a:solidFill>
                  <a:srgbClr val="10222B"/>
                </a:solidFill>
                <a:latin typeface="微软雅黑" panose="020B0503020204020204" charset="-122"/>
              </a:rPr>
              <a:t>是否应该就医</a:t>
            </a:r>
            <a:r>
              <a:rPr lang="en-US" altLang="zh-CN" sz="2100" b="1">
                <a:solidFill>
                  <a:srgbClr val="10222B"/>
                </a:solidFill>
                <a:latin typeface="微软雅黑" panose="020B0503020204020204" charset="-122"/>
              </a:rPr>
              <a:t>/</a:t>
            </a:r>
            <a:r>
              <a:rPr lang="zh-CN" altLang="en-US" sz="2100" b="1">
                <a:solidFill>
                  <a:srgbClr val="10222B"/>
                </a:solidFill>
                <a:latin typeface="微软雅黑" panose="020B0503020204020204" charset="-122"/>
              </a:rPr>
              <a:t>不知道自己如何处理</a:t>
            </a:r>
            <a:r>
              <a:rPr sz="2100" b="1">
                <a:solidFill>
                  <a:srgbClr val="10222B"/>
                </a:solidFill>
                <a:latin typeface="微软雅黑" panose="020B0503020204020204" charset="-122"/>
              </a:rPr>
              <a:t>。”</a:t>
            </a:r>
            <a:endParaRPr sz="210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44348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A5B64"/>
                </a:solidFill>
                <a:latin typeface="微软雅黑" panose="020B0503020204020204" charset="-122"/>
              </a:rPr>
              <a:t>从异常到就医，一条连续的线索</a:t>
            </a:r>
            <a:endParaRPr sz="1300" b="1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22960" y="4846320"/>
            <a:ext cx="3261360" cy="7772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D6B5C"/>
                </a:solidFill>
                <a:latin typeface="微软雅黑" panose="020B0503020204020204" charset="-122"/>
              </a:rPr>
              <a:t>身体出现异常</a:t>
            </a:r>
            <a:endParaRPr sz="16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084320" y="4846320"/>
            <a:ext cx="365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A5B64"/>
                </a:solidFill>
                <a:latin typeface="微软雅黑" panose="020B0503020204020204" charset="-122"/>
              </a:rPr>
              <a:t>→</a:t>
            </a:r>
            <a:endParaRPr sz="1700" b="1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450080" y="4846320"/>
            <a:ext cx="3261360" cy="7772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D6B5C"/>
                </a:solidFill>
                <a:latin typeface="微软雅黑" panose="020B0503020204020204" charset="-122"/>
              </a:rPr>
              <a:t>决定是否就医</a:t>
            </a:r>
            <a:endParaRPr sz="16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11440" y="4846320"/>
            <a:ext cx="365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A5B64"/>
                </a:solidFill>
                <a:latin typeface="微软雅黑" panose="020B0503020204020204" charset="-122"/>
              </a:rPr>
              <a:t>→</a:t>
            </a:r>
            <a:endParaRPr sz="1700" b="1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077199" y="4846320"/>
            <a:ext cx="3261360" cy="7772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D6B5C"/>
                </a:solidFill>
                <a:latin typeface="微软雅黑" panose="020B0503020204020204" charset="-122"/>
              </a:rPr>
              <a:t>真正见到医生</a:t>
            </a:r>
            <a:endParaRPr sz="16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微软雅黑" panose="020B0503020204020204" charset="-122"/>
              </a:rPr>
              <a:t>AI Health Navigator · 项目 Demo</a:t>
            </a:r>
            <a:endParaRPr sz="1000" b="0">
              <a:solidFill>
                <a:srgbClr val="8A99A2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微软雅黑" panose="020B0503020204020204" charset="-122"/>
              </a:rPr>
              <a:t>2</a:t>
            </a:r>
            <a:endParaRPr sz="1100" b="1">
              <a:solidFill>
                <a:srgbClr val="4A5B64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微软雅黑" panose="020B0503020204020204" charset="-122"/>
              </a:rPr>
              <a:t>核心功能</a:t>
            </a:r>
            <a:endParaRPr sz="13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微软雅黑" panose="020B0503020204020204" charset="-122"/>
              </a:rPr>
              <a:t>两大核心功能</a:t>
            </a:r>
            <a:endParaRPr sz="310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>
            <p:custDataLst>
              <p:tags r:id="rId1"/>
            </p:custDataLst>
          </p:nvPr>
        </p:nvSpPr>
        <p:spPr>
          <a:xfrm>
            <a:off x="822960" y="2148840"/>
            <a:ext cx="512064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>
            <p:custDataLst>
              <p:tags r:id="rId2"/>
            </p:custDataLst>
          </p:nvPr>
        </p:nvSpPr>
        <p:spPr>
          <a:xfrm>
            <a:off x="1188720" y="2514600"/>
            <a:ext cx="566928" cy="566928"/>
          </a:xfrm>
          <a:prstGeom prst="ellipse">
            <a:avLst/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D6B5C"/>
                </a:solidFill>
                <a:latin typeface="微软雅黑" panose="020B0503020204020204" charset="-122"/>
              </a:rPr>
              <a:t>①</a:t>
            </a:r>
            <a:endParaRPr sz="18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1188720" y="3291840"/>
            <a:ext cx="4480560" cy="584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0222B"/>
                </a:solidFill>
                <a:latin typeface="微软雅黑" panose="020B0503020204020204" charset="-122"/>
              </a:rPr>
              <a:t>Continuous Self-Triage</a:t>
            </a:r>
            <a:br>
              <a:rPr sz="1900" b="1">
                <a:solidFill>
                  <a:srgbClr val="10222B"/>
                </a:solidFill>
                <a:latin typeface="微软雅黑" panose="020B0503020204020204" charset="-122"/>
              </a:rPr>
            </a:br>
            <a:r>
              <a:rPr lang="zh-CN" sz="1900" b="1">
                <a:solidFill>
                  <a:srgbClr val="10222B"/>
                </a:solidFill>
                <a:latin typeface="微软雅黑" panose="020B0503020204020204" charset="-122"/>
              </a:rPr>
              <a:t>持续</a:t>
            </a:r>
            <a:r>
              <a:rPr lang="zh-CN" sz="1900" b="1">
                <a:solidFill>
                  <a:srgbClr val="10222B"/>
                </a:solidFill>
                <a:latin typeface="微软雅黑" panose="020B0503020204020204" charset="-122"/>
              </a:rPr>
              <a:t>关注用户</a:t>
            </a:r>
            <a:r>
              <a:rPr lang="zh-CN" sz="1900" b="1">
                <a:solidFill>
                  <a:srgbClr val="10222B"/>
                </a:solidFill>
                <a:latin typeface="微软雅黑" panose="020B0503020204020204" charset="-122"/>
              </a:rPr>
              <a:t>状态</a:t>
            </a:r>
            <a:endParaRPr lang="zh-CN" sz="190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>
            <p:custDataLst>
              <p:tags r:id="rId4"/>
            </p:custDataLst>
          </p:nvPr>
        </p:nvSpPr>
        <p:spPr>
          <a:xfrm>
            <a:off x="1188720" y="3886200"/>
            <a:ext cx="44805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4A5B64"/>
                </a:solidFill>
                <a:latin typeface="微软雅黑" panose="020B0503020204020204" charset="-122"/>
              </a:rPr>
              <a:t>建立 Health Episode，根据症状随时间的变化，持续重新评估下一步行动。</a:t>
            </a:r>
            <a:endParaRPr sz="1450" b="0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>
            <p:custDataLst>
              <p:tags r:id="rId5"/>
            </p:custDataLst>
          </p:nvPr>
        </p:nvSpPr>
        <p:spPr>
          <a:xfrm>
            <a:off x="6263640" y="2148840"/>
            <a:ext cx="512064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>
            <p:custDataLst>
              <p:tags r:id="rId6"/>
            </p:custDataLst>
          </p:nvPr>
        </p:nvSpPr>
        <p:spPr>
          <a:xfrm>
            <a:off x="6629400" y="2514600"/>
            <a:ext cx="566928" cy="566928"/>
          </a:xfrm>
          <a:prstGeom prst="ellipse">
            <a:avLst/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0D6B5C"/>
                </a:solidFill>
                <a:latin typeface="微软雅黑" panose="020B0503020204020204" charset="-122"/>
              </a:rPr>
              <a:t>②</a:t>
            </a:r>
            <a:endParaRPr sz="18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7"/>
            </p:custDataLst>
          </p:nvPr>
        </p:nvSpPr>
        <p:spPr>
          <a:xfrm>
            <a:off x="6629400" y="3291840"/>
            <a:ext cx="4480560" cy="584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0222B"/>
                </a:solidFill>
                <a:latin typeface="微软雅黑" panose="020B0503020204020204" charset="-122"/>
              </a:rPr>
              <a:t>Doctor Handoff</a:t>
            </a:r>
            <a:br>
              <a:rPr sz="1900" b="1">
                <a:solidFill>
                  <a:srgbClr val="10222B"/>
                </a:solidFill>
                <a:latin typeface="微软雅黑" panose="020B0503020204020204" charset="-122"/>
              </a:rPr>
            </a:br>
            <a:r>
              <a:rPr lang="zh-CN" sz="1900" b="1">
                <a:solidFill>
                  <a:srgbClr val="10222B"/>
                </a:solidFill>
                <a:latin typeface="微软雅黑" panose="020B0503020204020204" charset="-122"/>
              </a:rPr>
              <a:t>形成</a:t>
            </a:r>
            <a:r>
              <a:rPr lang="zh-CN" sz="1900" b="1">
                <a:solidFill>
                  <a:srgbClr val="10222B"/>
                </a:solidFill>
                <a:latin typeface="微软雅黑" panose="020B0503020204020204" charset="-122"/>
              </a:rPr>
              <a:t>结构化摘要</a:t>
            </a:r>
            <a:endParaRPr lang="zh-CN" sz="190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8"/>
            </p:custDataLst>
          </p:nvPr>
        </p:nvSpPr>
        <p:spPr>
          <a:xfrm>
            <a:off x="6629400" y="3886200"/>
            <a:ext cx="448056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4A5B64"/>
                </a:solidFill>
                <a:latin typeface="微软雅黑" panose="020B0503020204020204" charset="-122"/>
              </a:rPr>
              <a:t>真正需要专业医疗时，将 Episode 自动整理为结构化就医摘要。</a:t>
            </a:r>
            <a:endParaRPr sz="1450" b="0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微软雅黑" panose="020B0503020204020204" charset="-122"/>
              </a:rPr>
              <a:t>AI Health Navigator · 项目 Demo</a:t>
            </a:r>
            <a:endParaRPr sz="1000" b="0">
              <a:solidFill>
                <a:srgbClr val="8A99A2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微软雅黑" panose="020B0503020204020204" charset="-122"/>
              </a:rPr>
              <a:t>3</a:t>
            </a:r>
            <a:endParaRPr sz="1100" b="1">
              <a:solidFill>
                <a:srgbClr val="4A5B64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微软雅黑" panose="020B0503020204020204" charset="-122"/>
              </a:rPr>
              <a:t>01 · PROBLEM</a:t>
            </a:r>
            <a:endParaRPr sz="13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微软雅黑" panose="020B0503020204020204" charset="-122"/>
              </a:rPr>
              <a:t>为什么需要它</a:t>
            </a:r>
            <a:endParaRPr sz="310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4846320" cy="313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00" b="1">
                <a:solidFill>
                  <a:srgbClr val="10222B"/>
                </a:solidFill>
                <a:latin typeface="微软雅黑" panose="020B0503020204020204" charset="-122"/>
              </a:rPr>
              <a:t>我们</a:t>
            </a:r>
            <a:r>
              <a:rPr sz="1700" b="1">
                <a:solidFill>
                  <a:srgbClr val="10222B"/>
                </a:solidFill>
                <a:latin typeface="微软雅黑" panose="020B0503020204020204" charset="-122"/>
              </a:rPr>
              <a:t>真正困惑的，往往是：</a:t>
            </a:r>
            <a:endParaRPr sz="170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22960" y="2788920"/>
            <a:ext cx="82296" cy="566928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788920"/>
            <a:ext cx="4572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D6B5C"/>
                </a:solidFill>
                <a:latin typeface="微软雅黑" panose="020B0503020204020204" charset="-122"/>
              </a:rPr>
              <a:t>我现在该怎么办？</a:t>
            </a:r>
            <a:endParaRPr sz="20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22960" y="3502152"/>
            <a:ext cx="82296" cy="566928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502152"/>
            <a:ext cx="4572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D6B5C"/>
                </a:solidFill>
                <a:latin typeface="微软雅黑" panose="020B0503020204020204" charset="-122"/>
              </a:rPr>
              <a:t>需要去医院吗？</a:t>
            </a:r>
            <a:endParaRPr sz="20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22960" y="4215383"/>
            <a:ext cx="82296" cy="566928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215383"/>
            <a:ext cx="4572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D6B5C"/>
                </a:solidFill>
                <a:latin typeface="微软雅黑" panose="020B0503020204020204" charset="-122"/>
              </a:rPr>
              <a:t>什么时候不能再等？</a:t>
            </a:r>
            <a:endParaRPr sz="20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26480" y="2057400"/>
            <a:ext cx="521208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37744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0222B"/>
                </a:solidFill>
                <a:latin typeface="微软雅黑" panose="020B0503020204020204" charset="-122"/>
              </a:rPr>
              <a:t>现有体验是割裂的</a:t>
            </a:r>
            <a:endParaRPr sz="160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92240" y="301752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0222B"/>
                </a:solidFill>
                <a:latin typeface="微软雅黑" panose="020B0503020204020204" charset="-122"/>
              </a:rPr>
              <a:t>搜索 / AI 问答</a:t>
            </a:r>
            <a:endParaRPr sz="1500" b="1">
              <a:solidFill>
                <a:srgbClr val="10222B"/>
              </a:solidFill>
              <a:latin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5B64"/>
                </a:solidFill>
                <a:latin typeface="微软雅黑" panose="020B0503020204020204" charset="-122"/>
              </a:rPr>
              <a:t>一次性的，答完即走</a:t>
            </a:r>
            <a:endParaRPr sz="1350" b="0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92240" y="388620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0222B"/>
                </a:solidFill>
                <a:latin typeface="微软雅黑" panose="020B0503020204020204" charset="-122"/>
              </a:rPr>
              <a:t>健康数据</a:t>
            </a:r>
            <a:endParaRPr sz="1500" b="1">
              <a:solidFill>
                <a:srgbClr val="10222B"/>
              </a:solidFill>
              <a:latin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5B64"/>
                </a:solidFill>
                <a:latin typeface="微软雅黑" panose="020B0503020204020204" charset="-122"/>
              </a:rPr>
              <a:t>缺少解释，看不懂趋势</a:t>
            </a:r>
            <a:endParaRPr sz="1350" b="0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92240" y="4754879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0222B"/>
                </a:solidFill>
                <a:latin typeface="微软雅黑" panose="020B0503020204020204" charset="-122"/>
              </a:rPr>
              <a:t>真正就医</a:t>
            </a:r>
            <a:endParaRPr sz="1500" b="1">
              <a:solidFill>
                <a:srgbClr val="10222B"/>
              </a:solidFill>
              <a:latin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4A5B64"/>
                </a:solidFill>
                <a:latin typeface="微软雅黑" panose="020B0503020204020204" charset="-122"/>
              </a:rPr>
              <a:t>又要从头向医生描述一遍</a:t>
            </a:r>
            <a:endParaRPr sz="1350" b="0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微软雅黑" panose="020B0503020204020204" charset="-122"/>
              </a:rPr>
              <a:t>AI Health Navigator · 项目 Demo</a:t>
            </a:r>
            <a:endParaRPr sz="1000" b="0">
              <a:solidFill>
                <a:srgbClr val="8A99A2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微软雅黑" panose="020B0503020204020204" charset="-122"/>
              </a:rPr>
              <a:t>4</a:t>
            </a:r>
            <a:endParaRPr sz="1100" b="1">
              <a:solidFill>
                <a:srgbClr val="4A5B64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微软雅黑" panose="020B0503020204020204" charset="-122"/>
              </a:rPr>
              <a:t>02 · SOLUTION</a:t>
            </a:r>
            <a:endParaRPr sz="13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微软雅黑" panose="020B0503020204020204" charset="-122"/>
              </a:rPr>
              <a:t>我们做什么</a:t>
            </a:r>
            <a:endParaRPr sz="310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0222B"/>
                </a:solidFill>
                <a:latin typeface="微软雅黑" panose="020B0503020204020204" charset="-122"/>
              </a:rPr>
              <a:t>AI Health Navigator：从身体出现异常，到决定是否就医，再到真正见到医生的连续健康导航。</a:t>
            </a:r>
            <a:endParaRPr sz="210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22960" y="3520440"/>
            <a:ext cx="10515600" cy="1371600"/>
          </a:xfrm>
          <a:prstGeom prst="roundRect">
            <a:avLst>
              <a:gd name="adj" fmla="val 12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3767328"/>
            <a:ext cx="9692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D6B5C"/>
                </a:solidFill>
                <a:latin typeface="微软雅黑" panose="020B0503020204020204" charset="-122"/>
              </a:rPr>
              <a:t>核心不是替代医生诊断，而是管理一次完整的 Health Episode。</a:t>
            </a:r>
            <a:endParaRPr sz="20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53035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5B64"/>
                </a:solidFill>
                <a:latin typeface="微软雅黑" panose="020B0503020204020204" charset="-122"/>
              </a:rPr>
              <a:t>把「这一次不舒服」变成一条有始有终、可持续更新的健康事件。</a:t>
            </a:r>
            <a:endParaRPr sz="1400" b="0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微软雅黑" panose="020B0503020204020204" charset="-122"/>
              </a:rPr>
              <a:t>AI Health Navigator · 项目 Demo</a:t>
            </a:r>
            <a:endParaRPr sz="1000" b="0">
              <a:solidFill>
                <a:srgbClr val="8A99A2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微软雅黑" panose="020B0503020204020204" charset="-122"/>
              </a:rPr>
              <a:t>5</a:t>
            </a:r>
            <a:endParaRPr sz="1100" b="1">
              <a:solidFill>
                <a:srgbClr val="4A5B64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微软雅黑" panose="020B0503020204020204" charset="-122"/>
              </a:rPr>
              <a:t>03 · DEMO</a:t>
            </a:r>
            <a:endParaRPr sz="13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微软雅黑" panose="020B0503020204020204" charset="-122"/>
              </a:rPr>
              <a:t>核心用户流程</a:t>
            </a:r>
            <a:endParaRPr sz="310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847088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A5B64"/>
                </a:solidFill>
                <a:latin typeface="微软雅黑" panose="020B0503020204020204" charset="-122"/>
              </a:rPr>
              <a:t>身体不舒服</a:t>
            </a:r>
            <a:endParaRPr sz="1300" b="1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6" name="Oval 5"/>
          <p:cNvSpPr/>
          <p:nvPr/>
        </p:nvSpPr>
        <p:spPr>
          <a:xfrm>
            <a:off x="822960" y="2240279"/>
            <a:ext cx="457200" cy="457200"/>
          </a:xfrm>
          <a:prstGeom prst="ellipse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A564A"/>
                </a:solidFill>
                <a:latin typeface="微软雅黑" panose="020B0503020204020204" charset="-122"/>
              </a:rPr>
              <a:t>1</a:t>
            </a:r>
            <a:endParaRPr sz="1500" b="1">
              <a:solidFill>
                <a:srgbClr val="0A564A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81328" y="2212848"/>
            <a:ext cx="9784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0222B"/>
                </a:solidFill>
                <a:latin typeface="微软雅黑" panose="020B0503020204020204" charset="-122"/>
              </a:rPr>
              <a:t>AI Self-Triage</a:t>
            </a:r>
            <a:endParaRPr sz="155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81328" y="2523744"/>
            <a:ext cx="9784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5B64"/>
                </a:solidFill>
                <a:latin typeface="微软雅黑" panose="020B0503020204020204" charset="-122"/>
              </a:rPr>
              <a:t>结构化了解症状与背景</a:t>
            </a:r>
            <a:endParaRPr sz="1250" b="0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822960" y="2953512"/>
            <a:ext cx="457200" cy="457200"/>
          </a:xfrm>
          <a:prstGeom prst="ellipse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A564A"/>
                </a:solidFill>
                <a:latin typeface="微软雅黑" panose="020B0503020204020204" charset="-122"/>
              </a:rPr>
              <a:t>2</a:t>
            </a:r>
            <a:endParaRPr sz="1500" b="1">
              <a:solidFill>
                <a:srgbClr val="0A564A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81328" y="2926080"/>
            <a:ext cx="9784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0222B"/>
                </a:solidFill>
                <a:latin typeface="微软雅黑" panose="020B0503020204020204" charset="-122"/>
              </a:rPr>
              <a:t>Health Episode</a:t>
            </a:r>
            <a:endParaRPr sz="155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81328" y="3236976"/>
            <a:ext cx="9784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5B64"/>
                </a:solidFill>
                <a:latin typeface="微软雅黑" panose="020B0503020204020204" charset="-122"/>
              </a:rPr>
              <a:t>自动建立健康事件并持续记录</a:t>
            </a:r>
            <a:endParaRPr sz="1250" b="0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822960" y="3666744"/>
            <a:ext cx="457200" cy="457200"/>
          </a:xfrm>
          <a:prstGeom prst="ellipse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A564A"/>
                </a:solidFill>
                <a:latin typeface="微软雅黑" panose="020B0503020204020204" charset="-122"/>
              </a:rPr>
              <a:t>3</a:t>
            </a:r>
            <a:endParaRPr sz="1500" b="1">
              <a:solidFill>
                <a:srgbClr val="0A564A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81328" y="3639312"/>
            <a:ext cx="9784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0222B"/>
                </a:solidFill>
                <a:latin typeface="微软雅黑" panose="020B0503020204020204" charset="-122"/>
              </a:rPr>
              <a:t>Continuous Follow-up</a:t>
            </a:r>
            <a:endParaRPr sz="155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81328" y="3950208"/>
            <a:ext cx="9784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5B64"/>
                </a:solidFill>
                <a:latin typeface="微软雅黑" panose="020B0503020204020204" charset="-122"/>
              </a:rPr>
              <a:t>追踪症状变化并重新评估</a:t>
            </a:r>
            <a:endParaRPr sz="1250" b="0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822960" y="4379976"/>
            <a:ext cx="457200" cy="457200"/>
          </a:xfrm>
          <a:prstGeom prst="ellipse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A564A"/>
                </a:solidFill>
                <a:latin typeface="微软雅黑" panose="020B0503020204020204" charset="-122"/>
              </a:rPr>
              <a:t>4</a:t>
            </a:r>
            <a:endParaRPr sz="1500" b="1">
              <a:solidFill>
                <a:srgbClr val="0A564A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81328" y="4352544"/>
            <a:ext cx="9784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0222B"/>
                </a:solidFill>
                <a:latin typeface="微软雅黑" panose="020B0503020204020204" charset="-122"/>
              </a:rPr>
              <a:t>Next-step Navigation</a:t>
            </a:r>
            <a:endParaRPr sz="155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481328" y="4663440"/>
            <a:ext cx="9784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5B64"/>
                </a:solidFill>
                <a:latin typeface="微软雅黑" panose="020B0503020204020204" charset="-122"/>
              </a:rPr>
              <a:t>继续观察 / 寻求专业医疗</a:t>
            </a:r>
            <a:endParaRPr sz="1250" b="0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822960" y="5093208"/>
            <a:ext cx="457200" cy="457200"/>
          </a:xfrm>
          <a:prstGeom prst="ellipse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A564A"/>
                </a:solidFill>
                <a:latin typeface="微软雅黑" panose="020B0503020204020204" charset="-122"/>
              </a:rPr>
              <a:t>5</a:t>
            </a:r>
            <a:endParaRPr sz="1500" b="1">
              <a:solidFill>
                <a:srgbClr val="0A564A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81328" y="5065776"/>
            <a:ext cx="97840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0222B"/>
                </a:solidFill>
                <a:latin typeface="微软雅黑" panose="020B0503020204020204" charset="-122"/>
              </a:rPr>
              <a:t>Doctor Handoff</a:t>
            </a:r>
            <a:endParaRPr sz="155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481328" y="5376672"/>
            <a:ext cx="9784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5B64"/>
                </a:solidFill>
                <a:latin typeface="微软雅黑" panose="020B0503020204020204" charset="-122"/>
              </a:rPr>
              <a:t>生成结构化就医摘要</a:t>
            </a:r>
            <a:endParaRPr sz="1250" b="0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22960" y="5742432"/>
            <a:ext cx="10515600" cy="566928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270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742432"/>
            <a:ext cx="100584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0222B"/>
                </a:solidFill>
                <a:latin typeface="微软雅黑" panose="020B0503020204020204" charset="-122"/>
              </a:rPr>
              <a:t>现场重点演示三个页面：</a:t>
            </a:r>
            <a:r>
              <a:rPr sz="1350" b="1">
                <a:solidFill>
                  <a:srgbClr val="0D6B5C"/>
                </a:solidFill>
                <a:latin typeface="微软雅黑" panose="020B0503020204020204" charset="-122"/>
              </a:rPr>
              <a:t>首次分诊 → Episode 时间线 → Doctor Handoff</a:t>
            </a:r>
            <a:endParaRPr sz="135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微软雅黑" panose="020B0503020204020204" charset="-122"/>
              </a:rPr>
              <a:t>AI Health Navigator · 项目 Demo</a:t>
            </a:r>
            <a:endParaRPr sz="1000" b="0">
              <a:solidFill>
                <a:srgbClr val="8A99A2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微软雅黑" panose="020B0503020204020204" charset="-122"/>
              </a:rPr>
              <a:t>6</a:t>
            </a:r>
            <a:endParaRPr sz="1100" b="1">
              <a:solidFill>
                <a:srgbClr val="4A5B64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微软雅黑" panose="020B0503020204020204" charset="-122"/>
              </a:rPr>
              <a:t>04 · WHY AI</a:t>
            </a:r>
            <a:endParaRPr sz="13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微软雅黑" panose="020B0503020204020204" charset="-122"/>
              </a:rPr>
              <a:t>为什么以前难做</a:t>
            </a:r>
            <a:endParaRPr sz="310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4846320" cy="2194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0222B"/>
                </a:solidFill>
                <a:latin typeface="微软雅黑" panose="020B0503020204020204" charset="-122"/>
              </a:rPr>
              <a:t>AI 的价值不只是聊天，而是把</a:t>
            </a:r>
            <a:endParaRPr sz="1700" b="0">
              <a:solidFill>
                <a:srgbClr val="10222B"/>
              </a:solidFill>
              <a:latin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D6B5C"/>
                </a:solidFill>
                <a:latin typeface="微软雅黑" panose="020B0503020204020204" charset="-122"/>
              </a:rPr>
              <a:t>多轮自然语言</a:t>
            </a:r>
            <a:r>
              <a:rPr sz="1700" b="0">
                <a:solidFill>
                  <a:srgbClr val="10222B"/>
                </a:solidFill>
                <a:latin typeface="微软雅黑" panose="020B0503020204020204" charset="-122"/>
              </a:rPr>
              <a:t>、</a:t>
            </a:r>
            <a:r>
              <a:rPr sz="1700" b="1">
                <a:solidFill>
                  <a:srgbClr val="0D6B5C"/>
                </a:solidFill>
                <a:latin typeface="微软雅黑" panose="020B0503020204020204" charset="-122"/>
              </a:rPr>
              <a:t>症状变化</a:t>
            </a:r>
            <a:r>
              <a:rPr sz="1700" b="0">
                <a:solidFill>
                  <a:srgbClr val="10222B"/>
                </a:solidFill>
                <a:latin typeface="微软雅黑" panose="020B0503020204020204" charset="-122"/>
              </a:rPr>
              <a:t>和</a:t>
            </a:r>
            <a:r>
              <a:rPr sz="1700" b="1">
                <a:solidFill>
                  <a:srgbClr val="0D6B5C"/>
                </a:solidFill>
                <a:latin typeface="微软雅黑" panose="020B0503020204020204" charset="-122"/>
              </a:rPr>
              <a:t>个人背景</a:t>
            </a:r>
            <a:endParaRPr sz="1700" b="1">
              <a:solidFill>
                <a:srgbClr val="0D6B5C"/>
              </a:solidFill>
              <a:latin typeface="微软雅黑" panose="020B0503020204020204" charset="-122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10222B"/>
                </a:solidFill>
                <a:latin typeface="微软雅黑" panose="020B0503020204020204" charset="-122"/>
              </a:rPr>
              <a:t>转化成持续更新的健康状态，而不是每次从零回答问题。</a:t>
            </a:r>
            <a:endParaRPr sz="1700" b="0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309360" y="214884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7B897"/>
                </a:solidFill>
                <a:latin typeface="微软雅黑" panose="020B0503020204020204" charset="-122"/>
              </a:rPr>
              <a:t>技术核心</a:t>
            </a:r>
            <a:endParaRPr sz="1250" b="1">
              <a:solidFill>
                <a:srgbClr val="17B897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309360" y="2487168"/>
            <a:ext cx="5029200" cy="1051560"/>
          </a:xfrm>
          <a:prstGeom prst="roundRect">
            <a:avLst>
              <a:gd name="adj" fmla="val 14000"/>
            </a:avLst>
          </a:prstGeom>
          <a:solidFill>
            <a:srgbClr val="0D6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</a:rPr>
              <a:t>Longitudinal Health Reasoning</a:t>
            </a:r>
            <a:endParaRPr sz="2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09360" y="3703320"/>
            <a:ext cx="5029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0222B"/>
                </a:solidFill>
                <a:latin typeface="微软雅黑" panose="020B0503020204020204" charset="-122"/>
              </a:rPr>
              <a:t>多轮 NL · 症状变化 · 个人背景</a:t>
            </a:r>
            <a:endParaRPr sz="1350" b="1">
              <a:solidFill>
                <a:srgbClr val="10222B"/>
              </a:solidFill>
              <a:latin typeface="微软雅黑" panose="020B0503020204020204" charset="-122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D6B5C"/>
                </a:solidFill>
                <a:latin typeface="微软雅黑" panose="020B0503020204020204" charset="-122"/>
              </a:rPr>
              <a:t>→ 持续更新的健康状态</a:t>
            </a:r>
            <a:endParaRPr sz="135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微软雅黑" panose="020B0503020204020204" charset="-122"/>
              </a:rPr>
              <a:t>AI Health Navigator · 项目 Demo</a:t>
            </a:r>
            <a:endParaRPr sz="1000" b="0">
              <a:solidFill>
                <a:srgbClr val="8A99A2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微软雅黑" panose="020B0503020204020204" charset="-122"/>
              </a:rPr>
              <a:t>7</a:t>
            </a:r>
            <a:endParaRPr sz="1100" b="1">
              <a:solidFill>
                <a:srgbClr val="4A5B64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749808"/>
            <a:ext cx="91440" cy="457200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694944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D6B5C"/>
                </a:solidFill>
                <a:latin typeface="微软雅黑" panose="020B0503020204020204" charset="-122"/>
              </a:rPr>
              <a:t>05 · MOAT</a:t>
            </a:r>
            <a:endParaRPr sz="13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78992" y="987552"/>
            <a:ext cx="102412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0222B"/>
                </a:solidFill>
                <a:latin typeface="微软雅黑" panose="020B0503020204020204" charset="-122"/>
              </a:rPr>
              <a:t>未来核心竞争力</a:t>
            </a:r>
            <a:endParaRPr sz="310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251460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28600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D6B5C"/>
                </a:solidFill>
                <a:latin typeface="微软雅黑" panose="020B0503020204020204" charset="-122"/>
              </a:rPr>
              <a:t>Health Episode 数据</a:t>
            </a:r>
            <a:endParaRPr sz="135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24128" y="3063240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5B64"/>
                </a:solidFill>
                <a:latin typeface="微软雅黑" panose="020B0503020204020204" charset="-122"/>
              </a:rPr>
              <a:t>每一次健康事件的完整纵向记录</a:t>
            </a:r>
            <a:endParaRPr sz="1150" b="0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493008" y="2103120"/>
            <a:ext cx="251460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94176" y="228600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D6B5C"/>
                </a:solidFill>
                <a:latin typeface="微软雅黑" panose="020B0503020204020204" charset="-122"/>
              </a:rPr>
              <a:t>经验证的分诊系统</a:t>
            </a:r>
            <a:endParaRPr sz="135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94176" y="3063240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5B64"/>
                </a:solidFill>
                <a:latin typeface="微软雅黑" panose="020B0503020204020204" charset="-122"/>
              </a:rPr>
              <a:t>可追溯、可验证的分层建议</a:t>
            </a:r>
            <a:endParaRPr sz="1150" b="0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163056" y="2103120"/>
            <a:ext cx="251460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228600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D6B5C"/>
                </a:solidFill>
                <a:latin typeface="微软雅黑" panose="020B0503020204020204" charset="-122"/>
              </a:rPr>
              <a:t>Personal Baseline</a:t>
            </a:r>
            <a:endParaRPr sz="135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64224" y="3063240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5B64"/>
                </a:solidFill>
                <a:latin typeface="微软雅黑" panose="020B0503020204020204" charset="-122"/>
              </a:rPr>
              <a:t>了解「我的正常状态」</a:t>
            </a:r>
            <a:endParaRPr sz="1150" b="0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833104" y="2103120"/>
            <a:ext cx="251460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DDE6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34272" y="228600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D6B5C"/>
                </a:solidFill>
                <a:latin typeface="微软雅黑" panose="020B0503020204020204" charset="-122"/>
              </a:rPr>
              <a:t>医疗服务连接</a:t>
            </a:r>
            <a:endParaRPr sz="135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034272" y="3063240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5B64"/>
                </a:solidFill>
                <a:latin typeface="微软雅黑" panose="020B0503020204020204" charset="-122"/>
              </a:rPr>
              <a:t>从导航到就医的无缝交接</a:t>
            </a:r>
            <a:endParaRPr sz="1150" b="0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" y="42062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0222B"/>
                </a:solidFill>
                <a:latin typeface="微软雅黑" panose="020B0503020204020204" charset="-122"/>
              </a:rPr>
              <a:t>随着使用积累，从「这次该怎么办」进一步发展到：</a:t>
            </a:r>
            <a:endParaRPr sz="1400" b="1">
              <a:solidFill>
                <a:srgbClr val="10222B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22960" y="4663440"/>
            <a:ext cx="2354580" cy="777240"/>
          </a:xfrm>
          <a:prstGeom prst="roundRect">
            <a:avLst>
              <a:gd name="adj" fmla="val 50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D6B5C"/>
                </a:solidFill>
                <a:latin typeface="微软雅黑" panose="020B0503020204020204" charset="-122"/>
              </a:rPr>
              <a:t>了解我的正常状态</a:t>
            </a:r>
            <a:endParaRPr sz="13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177540" y="4663440"/>
            <a:ext cx="365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A5B64"/>
                </a:solidFill>
                <a:latin typeface="微软雅黑" panose="020B0503020204020204" charset="-122"/>
              </a:rPr>
              <a:t>→</a:t>
            </a:r>
            <a:endParaRPr sz="1700" b="1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3543300" y="4663440"/>
            <a:ext cx="2354580" cy="777240"/>
          </a:xfrm>
          <a:prstGeom prst="roundRect">
            <a:avLst>
              <a:gd name="adj" fmla="val 50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D6B5C"/>
                </a:solidFill>
                <a:latin typeface="微软雅黑" panose="020B0503020204020204" charset="-122"/>
              </a:rPr>
              <a:t>发现异常变化</a:t>
            </a:r>
            <a:endParaRPr sz="13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897880" y="4663440"/>
            <a:ext cx="365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A5B64"/>
                </a:solidFill>
                <a:latin typeface="微软雅黑" panose="020B0503020204020204" charset="-122"/>
              </a:rPr>
              <a:t>→</a:t>
            </a:r>
            <a:endParaRPr sz="1700" b="1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263640" y="4663440"/>
            <a:ext cx="2354580" cy="777240"/>
          </a:xfrm>
          <a:prstGeom prst="roundRect">
            <a:avLst>
              <a:gd name="adj" fmla="val 50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D6B5C"/>
                </a:solidFill>
                <a:latin typeface="微软雅黑" panose="020B0503020204020204" charset="-122"/>
              </a:rPr>
              <a:t>主动健康提醒</a:t>
            </a:r>
            <a:endParaRPr sz="13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618220" y="4663440"/>
            <a:ext cx="3657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A5B64"/>
                </a:solidFill>
                <a:latin typeface="微软雅黑" panose="020B0503020204020204" charset="-122"/>
              </a:rPr>
              <a:t>→</a:t>
            </a:r>
            <a:endParaRPr sz="1700" b="1">
              <a:solidFill>
                <a:srgbClr val="4A5B64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983980" y="4663440"/>
            <a:ext cx="2354580" cy="777240"/>
          </a:xfrm>
          <a:prstGeom prst="roundRect">
            <a:avLst>
              <a:gd name="adj" fmla="val 50000"/>
            </a:avLst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D6B5C"/>
                </a:solidFill>
                <a:latin typeface="微软雅黑" panose="020B0503020204020204" charset="-122"/>
              </a:rPr>
              <a:t>连续健康管理</a:t>
            </a:r>
            <a:endParaRPr sz="1300" b="1">
              <a:solidFill>
                <a:srgbClr val="0D6B5C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A99A2"/>
                </a:solidFill>
                <a:latin typeface="微软雅黑" panose="020B0503020204020204" charset="-122"/>
              </a:rPr>
              <a:t>AI Health Navigator · 项目 Demo</a:t>
            </a:r>
            <a:endParaRPr sz="1000" b="0">
              <a:solidFill>
                <a:srgbClr val="8A99A2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0881360" y="6473952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A5B64"/>
                </a:solidFill>
                <a:latin typeface="微软雅黑" panose="020B0503020204020204" charset="-122"/>
              </a:rPr>
              <a:t>8</a:t>
            </a:r>
            <a:endParaRPr sz="1100" b="1">
              <a:solidFill>
                <a:srgbClr val="4A5B64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6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2468880"/>
            <a:ext cx="105156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微软雅黑" panose="020B0503020204020204" charset="-122"/>
              </a:rPr>
              <a:t>We don't replace the doctor.</a:t>
            </a:r>
            <a:endParaRPr sz="4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68680" y="3611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17B897"/>
                </a:solidFill>
                <a:latin typeface="微软雅黑" panose="020B0503020204020204" charset="-122"/>
              </a:rPr>
              <a:t>We manage the journey before you see one.</a:t>
            </a:r>
            <a:endParaRPr sz="2200" b="0">
              <a:solidFill>
                <a:srgbClr val="17B897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96112" y="4617720"/>
            <a:ext cx="1463040" cy="41148"/>
          </a:xfrm>
          <a:prstGeom prst="rect">
            <a:avLst/>
          </a:prstGeom>
          <a:solidFill>
            <a:srgbClr val="17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8920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8E4DA"/>
                </a:solidFill>
                <a:latin typeface="微软雅黑" panose="020B0503020204020204" charset="-122"/>
              </a:rPr>
              <a:t>AI Health Navigator · 概念 Demo（虚构数据，不替代专业医疗建议）</a:t>
            </a:r>
            <a:endParaRPr sz="1300" b="0">
              <a:solidFill>
                <a:srgbClr val="B8E4D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44.8,&quot;left&quot;:64.8,&quot;top&quot;:169.2,&quot;width&quot;:831.6}"/>
</p:tagLst>
</file>

<file path=ppt/tags/tag2.xml><?xml version="1.0" encoding="utf-8"?>
<p:tagLst xmlns:p="http://schemas.openxmlformats.org/presentationml/2006/main">
  <p:tag name="KSO_WM_DIAGRAM_VIRTUALLY_FRAME" val="{&quot;height&quot;:244.8,&quot;left&quot;:64.8,&quot;top&quot;:169.2,&quot;width&quot;:831.6}"/>
</p:tagLst>
</file>

<file path=ppt/tags/tag3.xml><?xml version="1.0" encoding="utf-8"?>
<p:tagLst xmlns:p="http://schemas.openxmlformats.org/presentationml/2006/main">
  <p:tag name="KSO_WM_DIAGRAM_VIRTUALLY_FRAME" val="{&quot;height&quot;:244.8,&quot;left&quot;:64.8,&quot;top&quot;:169.2,&quot;width&quot;:831.6}"/>
</p:tagLst>
</file>

<file path=ppt/tags/tag4.xml><?xml version="1.0" encoding="utf-8"?>
<p:tagLst xmlns:p="http://schemas.openxmlformats.org/presentationml/2006/main">
  <p:tag name="KSO_WM_DIAGRAM_VIRTUALLY_FRAME" val="{&quot;height&quot;:244.8,&quot;left&quot;:64.8,&quot;top&quot;:169.2,&quot;width&quot;:831.6}"/>
</p:tagLst>
</file>

<file path=ppt/tags/tag5.xml><?xml version="1.0" encoding="utf-8"?>
<p:tagLst xmlns:p="http://schemas.openxmlformats.org/presentationml/2006/main">
  <p:tag name="KSO_WM_DIAGRAM_VIRTUALLY_FRAME" val="{&quot;height&quot;:244.8,&quot;left&quot;:64.8,&quot;top&quot;:169.2,&quot;width&quot;:831.6}"/>
</p:tagLst>
</file>

<file path=ppt/tags/tag6.xml><?xml version="1.0" encoding="utf-8"?>
<p:tagLst xmlns:p="http://schemas.openxmlformats.org/presentationml/2006/main">
  <p:tag name="KSO_WM_DIAGRAM_VIRTUALLY_FRAME" val="{&quot;height&quot;:244.8,&quot;left&quot;:64.8,&quot;top&quot;:169.2,&quot;width&quot;:831.6}"/>
</p:tagLst>
</file>

<file path=ppt/tags/tag7.xml><?xml version="1.0" encoding="utf-8"?>
<p:tagLst xmlns:p="http://schemas.openxmlformats.org/presentationml/2006/main">
  <p:tag name="KSO_WM_DIAGRAM_VIRTUALLY_FRAME" val="{&quot;height&quot;:244.8,&quot;left&quot;:64.8,&quot;top&quot;:169.2,&quot;width&quot;:831.6}"/>
</p:tagLst>
</file>

<file path=ppt/tags/tag8.xml><?xml version="1.0" encoding="utf-8"?>
<p:tagLst xmlns:p="http://schemas.openxmlformats.org/presentationml/2006/main">
  <p:tag name="KSO_WM_DIAGRAM_VIRTUALLY_FRAME" val="{&quot;height&quot;:244.8,&quot;left&quot;:64.8,&quot;top&quot;:169.2,&quot;width&quot;:831.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1511</Words>
  <Application>WPS 演示</Application>
  <PresentationFormat>On-screen Show (4:3)</PresentationFormat>
  <Paragraphs>206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huifen</cp:lastModifiedBy>
  <cp:revision>2</cp:revision>
  <dcterms:created xsi:type="dcterms:W3CDTF">2013-01-27T09:14:00Z</dcterms:created>
  <dcterms:modified xsi:type="dcterms:W3CDTF">2026-09-29T15:15:34Z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660B7F0B45654ACAB33D3BBF582CDDD1_12</vt:lpwstr>
  </property>
</Properties>
</file>